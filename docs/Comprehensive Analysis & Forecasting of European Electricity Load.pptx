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Inter Light"/>
      <p:regular r:id="rId18"/>
      <p:bold r:id="rId19"/>
      <p:italic r:id="rId20"/>
      <p:boldItalic r:id="rId21"/>
    </p:embeddedFont>
    <p:embeddedFont>
      <p:font typeface="Inter SemiBold"/>
      <p:regular r:id="rId22"/>
      <p:bold r:id="rId23"/>
      <p:italic r:id="rId24"/>
      <p:boldItalic r:id="rId25"/>
    </p:embeddedFont>
    <p:embeddedFont>
      <p:font typeface="Inter"/>
      <p:bold r:id="rId26"/>
      <p:boldItalic r:id="rId27"/>
    </p:embeddedFont>
    <p:embeddedFont>
      <p:font typeface="Inter ExtraBold"/>
      <p:bold r:id="rId28"/>
      <p:boldItalic r:id="rId29"/>
    </p:embeddedFont>
    <p:embeddedFont>
      <p:font typeface="Inter Medium"/>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Light-italic.fntdata"/><Relationship Id="rId22" Type="http://schemas.openxmlformats.org/officeDocument/2006/relationships/font" Target="fonts/InterSemiBold-regular.fntdata"/><Relationship Id="rId21" Type="http://schemas.openxmlformats.org/officeDocument/2006/relationships/font" Target="fonts/InterLight-boldItalic.fntdata"/><Relationship Id="rId24" Type="http://schemas.openxmlformats.org/officeDocument/2006/relationships/font" Target="fonts/InterSemiBold-italic.fntdata"/><Relationship Id="rId23" Type="http://schemas.openxmlformats.org/officeDocument/2006/relationships/font" Target="fonts/Inter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bold.fntdata"/><Relationship Id="rId25" Type="http://schemas.openxmlformats.org/officeDocument/2006/relationships/font" Target="fonts/InterSemiBold-boldItalic.fntdata"/><Relationship Id="rId28" Type="http://schemas.openxmlformats.org/officeDocument/2006/relationships/font" Target="fonts/InterExtraBold-bold.fntdata"/><Relationship Id="rId27"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ExtraBol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Medium-bold.fntdata"/><Relationship Id="rId30" Type="http://schemas.openxmlformats.org/officeDocument/2006/relationships/font" Target="fonts/InterMedium-regular.fntdata"/><Relationship Id="rId11" Type="http://schemas.openxmlformats.org/officeDocument/2006/relationships/slide" Target="slides/slide6.xml"/><Relationship Id="rId33" Type="http://schemas.openxmlformats.org/officeDocument/2006/relationships/font" Target="fonts/InterMedium-boldItalic.fntdata"/><Relationship Id="rId10" Type="http://schemas.openxmlformats.org/officeDocument/2006/relationships/slide" Target="slides/slide5.xml"/><Relationship Id="rId32" Type="http://schemas.openxmlformats.org/officeDocument/2006/relationships/font" Target="fonts/InterMedium-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InterLight-bold.fntdata"/><Relationship Id="rId18" Type="http://schemas.openxmlformats.org/officeDocument/2006/relationships/font" Target="fonts/Inter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e39198831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e39198831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tr" sz="1050">
                <a:solidFill>
                  <a:srgbClr val="CCCCCC"/>
                </a:solidFill>
                <a:highlight>
                  <a:srgbClr val="1F1F1F"/>
                </a:highlight>
                <a:latin typeface="Courier New"/>
                <a:ea typeface="Courier New"/>
                <a:cs typeface="Courier New"/>
                <a:sym typeface="Courier New"/>
              </a:rPr>
              <a:t>Değerli hocalarım ve sevgili katılımcılar, sunumumuza hoş geldiniz. Bugün sizlere, ekip arkadaşım Kamal Asadov ile birlikte, Çukurova Üniversitesi Mühendislik Fakültesi bünyesinde 15 kişilik disiplinlerarası bir ekiple gerçekleştirdiğimiz 'Avrupa Elektrik Yükünün Kapsamlı Analizi ve Tahmini' projesini sunacağız. Projemizde 1 milyondan fazla satırlık devasa bir veri seti üzerinde 37 bağımsız LightGBM modeli eğiterek %97.19 gibi oldukça yüksek bir ortalama tahmin başarısı elde ettik.</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sz="1050">
              <a:solidFill>
                <a:srgbClr val="CCCCCC"/>
              </a:solidFill>
              <a:highlight>
                <a:srgbClr val="1F1F1F"/>
              </a:highlight>
              <a:latin typeface="Courier New"/>
              <a:ea typeface="Courier New"/>
              <a:cs typeface="Courier New"/>
              <a:sym typeface="Courier New"/>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39198831d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39198831d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tr" sz="1050">
                <a:solidFill>
                  <a:srgbClr val="CCCCCC"/>
                </a:solidFill>
                <a:highlight>
                  <a:srgbClr val="1F1F1F"/>
                </a:highlight>
                <a:latin typeface="Courier New"/>
                <a:ea typeface="Courier New"/>
                <a:cs typeface="Courier New"/>
                <a:sym typeface="Courier New"/>
              </a:rPr>
              <a:t>Projeye başlarken temel motivasyonumuz şuydu: Elektrik, büyük ölçeklerde depolanması zor olan ve üretim ile tüketimin her an dengede kalmasını gerektiren bir enerjidir. Bu denge bozulduğunda Avrupa çapında büyük elektrik kesintileri, yani blackout'lar yaşanabilir. Bu kritik sorunu çözmek amacıyla, 2019-2025 yıllarını kapsayan ve 37 Avrupa ülkesine ait saatlik elektrik tüketim verilerini kullanarak şebeke operatörleri için yüksek doğruluklu tahmin modelleri geliştirmeyi hedefledik.</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39198831d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39198831d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tr" sz="1050">
                <a:solidFill>
                  <a:srgbClr val="CCCCCC"/>
                </a:solidFill>
                <a:highlight>
                  <a:srgbClr val="1F1F1F"/>
                </a:highlight>
                <a:latin typeface="Courier New"/>
                <a:ea typeface="Courier New"/>
                <a:cs typeface="Courier New"/>
                <a:sym typeface="Courier New"/>
              </a:rPr>
              <a:t>Bu çapta bir projeyi başarıyla yürütebilmek için 15 kişilik ekibimizi 5 uzmanlık grubuna ayırdık. Veri temizleme, öznitelik mühendisliği, keşifsel veri analizi ve modelleme gruplarının eşzamanlı çalışmasını sağladık. Kamal ve ben ise Dokümantasyon ve Formatlama grubu olarak; tüm bu teknik süreçlerin, verilerin ve mühendislik kararlarının akademik standartlara uygun, kusursuz bir bilimsel rapora dönüştürülmesinden sorumluyduk.</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39198831d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39198831d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tr" sz="1050">
                <a:solidFill>
                  <a:srgbClr val="CCCCCC"/>
                </a:solidFill>
                <a:highlight>
                  <a:srgbClr val="1F1F1F"/>
                </a:highlight>
                <a:latin typeface="Courier New"/>
                <a:ea typeface="Courier New"/>
                <a:cs typeface="Courier New"/>
                <a:sym typeface="Courier New"/>
              </a:rPr>
              <a:t>Elbette gerçek dünya sensör verileri her zaman beklediğimiz gibi temiz gelmiyor. 116 MB boyutundaki bu ham veriyi profesyonel bir şekilde Git LFS (Large File Storage) kullanarak yönettik. Ancak ham veride çok ciddi anomalilerle karşılaştık. Almanya ve Belçika gibi ülkelerde değerlerin yanlışlıkla 10 ile çarpıldığını, Romanya ve Bosna Hersek'te ise saatlik tüketimin imkansız bir seviye olan trilyon megavatlara fırladığını tespit ettik. Ayrıca Kosova verisi sadece 6 aylık olduğu için, genel model başarısını korumak adına onu veri setinden çıkardık.</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39198831d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39198831d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tr" sz="1050">
                <a:solidFill>
                  <a:srgbClr val="CCCCCC"/>
                </a:solidFill>
                <a:highlight>
                  <a:srgbClr val="1F1F1F"/>
                </a:highlight>
                <a:latin typeface="Courier New"/>
                <a:ea typeface="Courier New"/>
                <a:cs typeface="Courier New"/>
                <a:sym typeface="Courier New"/>
              </a:rPr>
              <a:t>Bu devasa anomalileri veri bütünlüğünü bozmadan gidermek için otomatik bir veri temizleme boru hattı geliştirdik. Ülke bazında 5 saatlik kayan medyan hesaplayarak, bu medyandan %60'tan fazla sapma gösteren değerleri hatalı kabul edip boş değere (NaN) dönüştürdük. Ardından, oluşan bu boşlukları doğrusal enterpolasyonla doldurarak, sıfır gürültülü ve tamamen kesintisiz bir zaman serisi elde ettik.</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39198831d_0_1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39198831d_0_1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tr" sz="1050">
                <a:solidFill>
                  <a:srgbClr val="CCCCCC"/>
                </a:solidFill>
                <a:highlight>
                  <a:srgbClr val="1F1F1F"/>
                </a:highlight>
                <a:latin typeface="Courier New"/>
                <a:ea typeface="Courier New"/>
                <a:cs typeface="Courier New"/>
                <a:sym typeface="Courier New"/>
              </a:rPr>
              <a:t>Zaman serilerindeki periyodik döngüleri modellerimize öğretebilmek için kapsamlı bir öznitelik mühendisliği uyguladık. Tarih verisinden saat, ay ve hafta sonu ayrımı gibi zamansal değişkenler türettik. Tüketim alışkanlıklarını yakalamak için 1 saat ve 24 saat önceki yük miktarlarını gecikme (lag) değişkenleri olarak ekledik. Ayrıca, anlık gürültüleri filtrelemek adına 24 saatlik hareketli ortalamayı hesaplayarak verimizi modele hazır hale getirdik.</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e39198831d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e39198831d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tr" sz="1050">
                <a:solidFill>
                  <a:srgbClr val="CCCCCC"/>
                </a:solidFill>
                <a:highlight>
                  <a:srgbClr val="1F1F1F"/>
                </a:highlight>
                <a:latin typeface="Courier New"/>
                <a:ea typeface="Courier New"/>
                <a:cs typeface="Courier New"/>
                <a:sym typeface="Courier New"/>
              </a:rPr>
              <a:t>Modelleme aşamasındaki en büyük mühendislik kararımız, 'Scale Mismatch' yani ölçek uyuşmazlığı problemini çözmek oldu. Lüksemburg 400 Megavat tüketirken Fransa 90.000 Megavat tüketiyordu. Tek bir global model, büyük sayılara odaklanıp küçük ülkelerde devasa hatalar yapıyordu. Bu yüzden her ülke için özel, 37 bağımsız LightGBM modeli eğittik. Ayrıca varyansı sabitlemek için hedef değerlere logaritmik dönüşüm uygulayarak tüm ülkelerde adil bir başarı yakaladık.</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39198831d_78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e39198831d_78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tr" sz="1050">
                <a:solidFill>
                  <a:srgbClr val="CCCCCC"/>
                </a:solidFill>
                <a:highlight>
                  <a:srgbClr val="1F1F1F"/>
                </a:highlight>
                <a:latin typeface="Courier New"/>
                <a:ea typeface="Courier New"/>
                <a:cs typeface="Courier New"/>
                <a:sym typeface="Courier New"/>
              </a:rPr>
              <a:t>Modellerimizi eğitirken veri sızıntısını önlemek için kesinlikle rastgele bölme yapmadık; veriyi tamamen kronolojik sıraya göre %70 Eğitim, %15 Doğrulama ve %15 Test olarak ayırdık. Bu devasa veriyi hızla işleyebilmek için GPU hızlandırması kullanarak 37 farklı modelin eğitimini dakikalar içinde tamamladık ve aşırı öğrenmeyi (overfitting) engellemek için erken durdurma (early stopping) mekanizması kullandık.</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39198831d_78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39198831d_78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tr" sz="1050">
                <a:solidFill>
                  <a:srgbClr val="CCCCCC"/>
                </a:solidFill>
                <a:highlight>
                  <a:srgbClr val="1F1F1F"/>
                </a:highlight>
                <a:latin typeface="Courier New"/>
                <a:ea typeface="Courier New"/>
                <a:cs typeface="Courier New"/>
                <a:sym typeface="Courier New"/>
              </a:rPr>
              <a:t>Bu mimarimiz sayesinde elde ettiğimiz sonuçlar gerçekten olağanüstüydü. 37 bağımsız modelin test setindeki genel ortalama R² başarısı %97.19 oldu. İtalya, Lüksemburg, İsveç ve Fransa gibi ülkelerde %99.5'in üzerinde bir doğruluğa ulaştık. İngiltere ve Bosna Hersek gibi veri kalitesi düşük veya uç değerlerin yoğun olduğu ülkeler ise skorların %80 civarında kalarak en zorlandığımız şebekeler oldu.</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39198831d_78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e39198831d_78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tr" sz="1050">
                <a:solidFill>
                  <a:srgbClr val="CCCCCC"/>
                </a:solidFill>
                <a:highlight>
                  <a:srgbClr val="1F1F1F"/>
                </a:highlight>
                <a:latin typeface="Courier New"/>
                <a:ea typeface="Courier New"/>
                <a:cs typeface="Courier New"/>
                <a:sym typeface="Courier New"/>
              </a:rPr>
              <a:t>Devasa bir şebekeyi temsil etmesi açısından Almanya modelimizi incelediğimizde, %99.38 gibi müthiş bir doğruluğa ve yaklaşık 60.000 Megavatlık tüketimde sadece 509 Megavatlık çok düşük bir ortalama hataya ulaştık. Modelimizin kararlarını en çok etkileyen öznitelikler ise sırasıyla; 1 saat önceki yük, 24 saatlik hareketli ortalama ve bir gün önceki aynı saatin yük değeri oldu.</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39198831d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e39198831d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tr" sz="1050">
                <a:solidFill>
                  <a:srgbClr val="CCCCCC"/>
                </a:solidFill>
                <a:highlight>
                  <a:srgbClr val="1F1F1F"/>
                </a:highlight>
                <a:latin typeface="Courier New"/>
                <a:ea typeface="Courier New"/>
                <a:cs typeface="Courier New"/>
                <a:sym typeface="Courier New"/>
              </a:rPr>
              <a:t>Tüm bu algoritmik çalışmaları sahada kullanılabilecek, interaktif bir ürüne dönüştürmek amacıyla Streamlit ve Plotly kullanarak bir kontrol paneli (Dashboard) geliştirdik. Geliştirdiğimiz dinamik filtreleme sayesinde verinin en yüksek %2'lik uç değerlerini otomatik olarak filtreleyebiliyoruz. Şebeke operatörleri bu arayüz sayesinde istedikleri ülkeyi ve yılı seçerek tüketim eğilimlerini, aylık ortalamaları ve saatlik dalgalanmaları görsel olarak analiz edebilmektedir."</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e39198831d_0_1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e39198831d_0_1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tr" sz="1050">
                <a:solidFill>
                  <a:srgbClr val="CCCCCC"/>
                </a:solidFill>
                <a:highlight>
                  <a:srgbClr val="1F1F1F"/>
                </a:highlight>
                <a:latin typeface="Courier New"/>
                <a:ea typeface="Courier New"/>
                <a:cs typeface="Courier New"/>
                <a:sym typeface="Courier New"/>
              </a:rPr>
              <a:t>Sonuç olarak, kurduğumuz 37 bağımsız model mimarisiyle Avrupa elektrik şebekelerinin dengesi için çok güçlü bir tahmin sistemi ortaya koyduk. Tofiq ve Kamal olarak, bu 15 kişilik dev ekibin ortaya çıkardığı tüm bulguları ve yazılımı sunum haline getirdik. Süreç boyunca desteklerini esirgemeyen saygıdeğer hocalarımız Dr. Öğr. Üyesi Oğuzhan Timur ve Öğr. Gör. Dr. Yunus Emre Çoğurcu'ya sonsuz teşekkürler. Bizi dinlediğiniz için teşekkür ederiz.</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39198831d_6_0)">
  <p:cSld name="Generated (g3e39198831d_6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28.jp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4.jp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29.jp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27.jp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2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3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3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3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pic>
        <p:nvPicPr>
          <p:cNvPr descr="A high-tech, cinematic visualization of a glowing European power grid at night with flowing data streams and energy pulses. Dark blue and cyan aesthetic, clean and professional." id="55" name="Google Shape;55;p14"/>
          <p:cNvPicPr preferRelativeResize="0"/>
          <p:nvPr/>
        </p:nvPicPr>
        <p:blipFill rotWithShape="1">
          <a:blip r:embed="rId4">
            <a:alphaModFix/>
          </a:blip>
          <a:srcRect b="0" l="0" r="0" t="0"/>
          <a:stretch/>
        </p:blipFill>
        <p:spPr>
          <a:xfrm>
            <a:off x="0" y="0"/>
            <a:ext cx="9144000" cy="5143500"/>
          </a:xfrm>
          <a:prstGeom prst="roundRect">
            <a:avLst>
              <a:gd fmla="val 0" name="adj"/>
            </a:avLst>
          </a:prstGeom>
          <a:noFill/>
          <a:ln>
            <a:noFill/>
          </a:ln>
        </p:spPr>
      </p:pic>
      <p:pic>
        <p:nvPicPr>
          <p:cNvPr id="56" name="Google Shape;56;p14"/>
          <p:cNvPicPr preferRelativeResize="0"/>
          <p:nvPr/>
        </p:nvPicPr>
        <p:blipFill rotWithShape="1">
          <a:blip r:embed="rId5">
            <a:alphaModFix/>
          </a:blip>
          <a:srcRect b="0" l="0" r="0" t="0"/>
          <a:stretch/>
        </p:blipFill>
        <p:spPr>
          <a:xfrm>
            <a:off x="0" y="3995738"/>
            <a:ext cx="9144000" cy="9600"/>
          </a:xfrm>
          <a:prstGeom prst="rect">
            <a:avLst/>
          </a:prstGeom>
          <a:noFill/>
          <a:ln>
            <a:noFill/>
          </a:ln>
        </p:spPr>
      </p:pic>
      <p:sp>
        <p:nvSpPr>
          <p:cNvPr id="57" name="Google Shape;57;p14"/>
          <p:cNvSpPr/>
          <p:nvPr/>
        </p:nvSpPr>
        <p:spPr>
          <a:xfrm>
            <a:off x="571500" y="762000"/>
            <a:ext cx="381000" cy="38100"/>
          </a:xfrm>
          <a:prstGeom prst="rect">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14"/>
          <p:cNvSpPr txBox="1"/>
          <p:nvPr/>
        </p:nvSpPr>
        <p:spPr>
          <a:xfrm>
            <a:off x="571500" y="952500"/>
            <a:ext cx="800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tr" sz="1600">
                <a:solidFill>
                  <a:srgbClr val="A5F3FC"/>
                </a:solidFill>
                <a:latin typeface="Inter Light"/>
                <a:ea typeface="Inter Light"/>
                <a:cs typeface="Inter Light"/>
                <a:sym typeface="Inter Light"/>
              </a:rPr>
              <a:t>MULTI-DISCIPLINARY ENGINEERING PROJECT | ÇUKUROVA UNIVERSITY</a:t>
            </a:r>
            <a:endParaRPr b="0" sz="1600">
              <a:solidFill>
                <a:srgbClr val="A5F3FC"/>
              </a:solidFill>
              <a:latin typeface="Inter Light"/>
              <a:ea typeface="Inter Light"/>
              <a:cs typeface="Inter Light"/>
              <a:sym typeface="Inter Light"/>
            </a:endParaRPr>
          </a:p>
        </p:txBody>
      </p:sp>
      <p:sp>
        <p:nvSpPr>
          <p:cNvPr id="59" name="Google Shape;59;p14"/>
          <p:cNvSpPr txBox="1"/>
          <p:nvPr/>
        </p:nvSpPr>
        <p:spPr>
          <a:xfrm>
            <a:off x="571500" y="1428750"/>
            <a:ext cx="7620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tr" sz="2945">
                <a:solidFill>
                  <a:srgbClr val="FFFFFF"/>
                </a:solidFill>
                <a:latin typeface="Inter ExtraBold"/>
                <a:ea typeface="Inter ExtraBold"/>
                <a:cs typeface="Inter ExtraBold"/>
                <a:sym typeface="Inter ExtraBold"/>
              </a:rPr>
              <a:t>Comprehensive Analysis &amp; Forecasting of European Electricity Load</a:t>
            </a:r>
            <a:endParaRPr b="0" sz="2945">
              <a:solidFill>
                <a:srgbClr val="FFFFFF"/>
              </a:solidFill>
              <a:latin typeface="Inter ExtraBold"/>
              <a:ea typeface="Inter ExtraBold"/>
              <a:cs typeface="Inter ExtraBold"/>
              <a:sym typeface="Inter ExtraBold"/>
            </a:endParaRPr>
          </a:p>
        </p:txBody>
      </p:sp>
      <p:sp>
        <p:nvSpPr>
          <p:cNvPr id="60" name="Google Shape;60;p14"/>
          <p:cNvSpPr txBox="1"/>
          <p:nvPr/>
        </p:nvSpPr>
        <p:spPr>
          <a:xfrm>
            <a:off x="571500" y="3048000"/>
            <a:ext cx="4762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tr" sz="1300">
                <a:solidFill>
                  <a:srgbClr val="FFFFFF"/>
                </a:solidFill>
                <a:latin typeface="Inter Medium"/>
                <a:ea typeface="Inter Medium"/>
                <a:cs typeface="Inter Medium"/>
                <a:sym typeface="Inter Medium"/>
              </a:rPr>
              <a:t>Presenters: Tofig Valiyev &amp; Kamal Asadov</a:t>
            </a:r>
            <a:endParaRPr b="0" sz="1300">
              <a:solidFill>
                <a:srgbClr val="FFFFFF"/>
              </a:solidFill>
              <a:latin typeface="Inter Medium"/>
              <a:ea typeface="Inter Medium"/>
              <a:cs typeface="Inter Medium"/>
              <a:sym typeface="Inter Medium"/>
            </a:endParaRPr>
          </a:p>
        </p:txBody>
      </p:sp>
      <p:sp>
        <p:nvSpPr>
          <p:cNvPr id="61" name="Google Shape;61;p14"/>
          <p:cNvSpPr txBox="1"/>
          <p:nvPr/>
        </p:nvSpPr>
        <p:spPr>
          <a:xfrm>
            <a:off x="571500" y="4286250"/>
            <a:ext cx="1905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tr" sz="1800">
                <a:solidFill>
                  <a:srgbClr val="22D3EE"/>
                </a:solidFill>
                <a:latin typeface="Inter"/>
                <a:ea typeface="Inter"/>
                <a:cs typeface="Inter"/>
                <a:sym typeface="Inter"/>
              </a:rPr>
              <a:t>97.19%</a:t>
            </a:r>
            <a:endParaRPr b="1" sz="1800">
              <a:solidFill>
                <a:srgbClr val="22D3EE"/>
              </a:solidFill>
              <a:latin typeface="Inter"/>
              <a:ea typeface="Inter"/>
              <a:cs typeface="Inter"/>
              <a:sym typeface="Inter"/>
            </a:endParaRPr>
          </a:p>
          <a:p>
            <a:pPr indent="0" lvl="0" marL="0" rtl="0" algn="l">
              <a:spcBef>
                <a:spcPts val="0"/>
              </a:spcBef>
              <a:spcAft>
                <a:spcPts val="0"/>
              </a:spcAft>
              <a:buNone/>
            </a:pPr>
            <a:r>
              <a:rPr b="0" lang="tr" sz="900">
                <a:solidFill>
                  <a:srgbClr val="94A3B8"/>
                </a:solidFill>
                <a:latin typeface="Inter"/>
                <a:ea typeface="Inter"/>
                <a:cs typeface="Inter"/>
                <a:sym typeface="Inter"/>
              </a:rPr>
              <a:t>R2 Accuracy</a:t>
            </a:r>
            <a:endParaRPr b="0" sz="900">
              <a:solidFill>
                <a:srgbClr val="94A3B8"/>
              </a:solidFill>
              <a:latin typeface="Inter"/>
              <a:ea typeface="Inter"/>
              <a:cs typeface="Inter"/>
              <a:sym typeface="Inter"/>
            </a:endParaRPr>
          </a:p>
        </p:txBody>
      </p:sp>
      <p:sp>
        <p:nvSpPr>
          <p:cNvPr id="62" name="Google Shape;62;p14"/>
          <p:cNvSpPr txBox="1"/>
          <p:nvPr/>
        </p:nvSpPr>
        <p:spPr>
          <a:xfrm>
            <a:off x="3619500" y="4286250"/>
            <a:ext cx="1905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tr" sz="1800">
                <a:solidFill>
                  <a:srgbClr val="22D3EE"/>
                </a:solidFill>
                <a:latin typeface="Inter"/>
                <a:ea typeface="Inter"/>
                <a:cs typeface="Inter"/>
                <a:sym typeface="Inter"/>
              </a:rPr>
              <a:t>37</a:t>
            </a:r>
            <a:endParaRPr b="1" sz="1800">
              <a:solidFill>
                <a:srgbClr val="22D3EE"/>
              </a:solidFill>
              <a:latin typeface="Inter"/>
              <a:ea typeface="Inter"/>
              <a:cs typeface="Inter"/>
              <a:sym typeface="Inter"/>
            </a:endParaRPr>
          </a:p>
          <a:p>
            <a:pPr indent="0" lvl="0" marL="0" rtl="0" algn="l">
              <a:spcBef>
                <a:spcPts val="0"/>
              </a:spcBef>
              <a:spcAft>
                <a:spcPts val="0"/>
              </a:spcAft>
              <a:buNone/>
            </a:pPr>
            <a:r>
              <a:rPr b="0" lang="tr" sz="900">
                <a:solidFill>
                  <a:srgbClr val="94A3B8"/>
                </a:solidFill>
                <a:latin typeface="Inter"/>
                <a:ea typeface="Inter"/>
                <a:cs typeface="Inter"/>
                <a:sym typeface="Inter"/>
              </a:rPr>
              <a:t>Models Analyzed</a:t>
            </a:r>
            <a:endParaRPr b="0" sz="900">
              <a:solidFill>
                <a:srgbClr val="94A3B8"/>
              </a:solidFill>
              <a:latin typeface="Inter"/>
              <a:ea typeface="Inter"/>
              <a:cs typeface="Inter"/>
              <a:sym typeface="Inter"/>
            </a:endParaRPr>
          </a:p>
        </p:txBody>
      </p:sp>
      <p:sp>
        <p:nvSpPr>
          <p:cNvPr id="63" name="Google Shape;63;p14"/>
          <p:cNvSpPr txBox="1"/>
          <p:nvPr/>
        </p:nvSpPr>
        <p:spPr>
          <a:xfrm>
            <a:off x="6667500" y="4286250"/>
            <a:ext cx="1905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tr" sz="1800">
                <a:solidFill>
                  <a:srgbClr val="22D3EE"/>
                </a:solidFill>
                <a:latin typeface="Inter"/>
                <a:ea typeface="Inter"/>
                <a:cs typeface="Inter"/>
                <a:sym typeface="Inter"/>
              </a:rPr>
              <a:t>1.04M+</a:t>
            </a:r>
            <a:endParaRPr b="1" sz="1800">
              <a:solidFill>
                <a:srgbClr val="22D3EE"/>
              </a:solidFill>
              <a:latin typeface="Inter"/>
              <a:ea typeface="Inter"/>
              <a:cs typeface="Inter"/>
              <a:sym typeface="Inter"/>
            </a:endParaRPr>
          </a:p>
          <a:p>
            <a:pPr indent="0" lvl="0" marL="0" rtl="0" algn="l">
              <a:spcBef>
                <a:spcPts val="0"/>
              </a:spcBef>
              <a:spcAft>
                <a:spcPts val="0"/>
              </a:spcAft>
              <a:buNone/>
            </a:pPr>
            <a:r>
              <a:rPr b="0" lang="tr" sz="900">
                <a:solidFill>
                  <a:srgbClr val="94A3B8"/>
                </a:solidFill>
                <a:latin typeface="Inter"/>
                <a:ea typeface="Inter"/>
                <a:cs typeface="Inter"/>
                <a:sym typeface="Inter"/>
              </a:rPr>
              <a:t>Data Rows</a:t>
            </a:r>
            <a:endParaRPr b="0" sz="900">
              <a:solidFill>
                <a:srgbClr val="94A3B8"/>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5"/>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69" name="Google Shape;69;p15"/>
          <p:cNvPicPr preferRelativeResize="0"/>
          <p:nvPr/>
        </p:nvPicPr>
        <p:blipFill rotWithShape="1">
          <a:blip r:embed="rId4">
            <a:alphaModFix/>
          </a:blip>
          <a:srcRect b="0" l="0" r="0" t="0"/>
          <a:stretch/>
        </p:blipFill>
        <p:spPr>
          <a:xfrm>
            <a:off x="0" y="0"/>
            <a:ext cx="9144000" cy="5143500"/>
          </a:xfrm>
          <a:prstGeom prst="rect">
            <a:avLst/>
          </a:prstGeom>
          <a:noFill/>
          <a:ln>
            <a:noFill/>
          </a:ln>
        </p:spPr>
      </p:pic>
      <p:sp>
        <p:nvSpPr>
          <p:cNvPr id="70" name="Google Shape;70;p15"/>
          <p:cNvSpPr/>
          <p:nvPr/>
        </p:nvSpPr>
        <p:spPr>
          <a:xfrm>
            <a:off x="571500" y="571500"/>
            <a:ext cx="381000" cy="38100"/>
          </a:xfrm>
          <a:prstGeom prst="rect">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15"/>
          <p:cNvSpPr txBox="1"/>
          <p:nvPr/>
        </p:nvSpPr>
        <p:spPr>
          <a:xfrm>
            <a:off x="571500" y="71437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1200">
                <a:solidFill>
                  <a:srgbClr val="A5F3FC"/>
                </a:solidFill>
                <a:latin typeface="Inter Light"/>
                <a:ea typeface="Inter Light"/>
                <a:cs typeface="Inter Light"/>
                <a:sym typeface="Inter Light"/>
              </a:rPr>
              <a:t>Multi-Disciplinary Engineering Project | Çukurova University</a:t>
            </a:r>
            <a:endParaRPr b="0" sz="1200">
              <a:solidFill>
                <a:srgbClr val="A5F3FC"/>
              </a:solidFill>
              <a:latin typeface="Inter Light"/>
              <a:ea typeface="Inter Light"/>
              <a:cs typeface="Inter Light"/>
              <a:sym typeface="Inter Light"/>
            </a:endParaRPr>
          </a:p>
        </p:txBody>
      </p:sp>
      <p:sp>
        <p:nvSpPr>
          <p:cNvPr id="72" name="Google Shape;72;p15"/>
          <p:cNvSpPr txBox="1"/>
          <p:nvPr/>
        </p:nvSpPr>
        <p:spPr>
          <a:xfrm>
            <a:off x="571500" y="1047750"/>
            <a:ext cx="800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tr" sz="2800">
                <a:solidFill>
                  <a:srgbClr val="FFFFFF"/>
                </a:solidFill>
                <a:latin typeface="Inter ExtraBold"/>
                <a:ea typeface="Inter ExtraBold"/>
                <a:cs typeface="Inter ExtraBold"/>
                <a:sym typeface="Inter ExtraBold"/>
              </a:rPr>
              <a:t>Project Motivation &amp; Scope</a:t>
            </a:r>
            <a:endParaRPr b="0" sz="2800">
              <a:solidFill>
                <a:srgbClr val="FFFFFF"/>
              </a:solidFill>
              <a:latin typeface="Inter ExtraBold"/>
              <a:ea typeface="Inter ExtraBold"/>
              <a:cs typeface="Inter ExtraBold"/>
              <a:sym typeface="Inter ExtraBold"/>
            </a:endParaRPr>
          </a:p>
        </p:txBody>
      </p:sp>
      <p:grpSp>
        <p:nvGrpSpPr>
          <p:cNvPr id="73" name="Google Shape;73;p15"/>
          <p:cNvGrpSpPr/>
          <p:nvPr/>
        </p:nvGrpSpPr>
        <p:grpSpPr>
          <a:xfrm>
            <a:off x="571500" y="1905000"/>
            <a:ext cx="4000500" cy="2667000"/>
            <a:chOff x="571500" y="1905000"/>
            <a:chExt cx="4000500" cy="2667000"/>
          </a:xfrm>
        </p:grpSpPr>
        <p:sp>
          <p:nvSpPr>
            <p:cNvPr id="74" name="Google Shape;74;p15"/>
            <p:cNvSpPr/>
            <p:nvPr/>
          </p:nvSpPr>
          <p:spPr>
            <a:xfrm>
              <a:off x="571500" y="1905000"/>
              <a:ext cx="4000500" cy="2667000"/>
            </a:xfrm>
            <a:prstGeom prst="roundRect">
              <a:avLst>
                <a:gd fmla="val 4285" name="adj"/>
              </a:avLst>
            </a:prstGeom>
            <a:solidFill>
              <a:srgbClr val="1E293B">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5"/>
            <p:cNvSpPr txBox="1"/>
            <p:nvPr/>
          </p:nvSpPr>
          <p:spPr>
            <a:xfrm>
              <a:off x="809625" y="2143125"/>
              <a:ext cx="3524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925">
                  <a:solidFill>
                    <a:srgbClr val="22D3EE"/>
                  </a:solidFill>
                  <a:latin typeface="Inter"/>
                  <a:ea typeface="Inter"/>
                  <a:cs typeface="Inter"/>
                  <a:sym typeface="Inter"/>
                </a:rPr>
                <a:t>OBJECTIVE</a:t>
              </a:r>
              <a:br>
                <a:rPr b="0" lang="tr" sz="1203">
                  <a:solidFill>
                    <a:srgbClr val="E2E8F0"/>
                  </a:solidFill>
                  <a:latin typeface="Inter"/>
                  <a:ea typeface="Inter"/>
                  <a:cs typeface="Inter"/>
                  <a:sym typeface="Inter"/>
                </a:rPr>
              </a:br>
              <a:r>
                <a:rPr b="0" lang="tr" sz="1203">
                  <a:solidFill>
                    <a:srgbClr val="E2E8F0"/>
                  </a:solidFill>
                  <a:latin typeface="Inter"/>
                  <a:ea typeface="Inter"/>
                  <a:cs typeface="Inter"/>
                  <a:sym typeface="Inter"/>
                </a:rPr>
                <a:t>Accurate hourly electricity load forecasting across 37 European countries to preserve transmission grid stability.</a:t>
              </a:r>
              <a:endParaRPr b="0" sz="1203">
                <a:solidFill>
                  <a:srgbClr val="E2E8F0"/>
                </a:solidFill>
                <a:latin typeface="Inter"/>
                <a:ea typeface="Inter"/>
                <a:cs typeface="Inter"/>
                <a:sym typeface="Inter"/>
              </a:endParaRPr>
            </a:p>
            <a:p>
              <a:pPr indent="0" lvl="0" marL="0" rtl="0" algn="l">
                <a:spcBef>
                  <a:spcPts val="1500"/>
                </a:spcBef>
                <a:spcAft>
                  <a:spcPts val="0"/>
                </a:spcAft>
                <a:buNone/>
              </a:pPr>
              <a:r>
                <a:rPr b="1" lang="tr" sz="925">
                  <a:solidFill>
                    <a:srgbClr val="22D3EE"/>
                  </a:solidFill>
                  <a:latin typeface="Inter"/>
                  <a:ea typeface="Inter"/>
                  <a:cs typeface="Inter"/>
                  <a:sym typeface="Inter"/>
                </a:rPr>
                <a:t>DATASET</a:t>
              </a:r>
              <a:br>
                <a:rPr b="0" lang="tr" sz="1203">
                  <a:solidFill>
                    <a:srgbClr val="E2E8F0"/>
                  </a:solidFill>
                  <a:latin typeface="Inter"/>
                  <a:ea typeface="Inter"/>
                  <a:cs typeface="Inter"/>
                  <a:sym typeface="Inter"/>
                </a:rPr>
              </a:br>
              <a:r>
                <a:rPr b="0" lang="tr" sz="1203">
                  <a:solidFill>
                    <a:srgbClr val="E2E8F0"/>
                  </a:solidFill>
                  <a:latin typeface="Inter"/>
                  <a:ea typeface="Inter"/>
                  <a:cs typeface="Inter"/>
                  <a:sym typeface="Inter"/>
                </a:rPr>
                <a:t>Covers 1.04 million hourly records spanning from 2019 to 2025.</a:t>
              </a:r>
              <a:endParaRPr b="0" sz="1203">
                <a:solidFill>
                  <a:srgbClr val="E2E8F0"/>
                </a:solidFill>
                <a:latin typeface="Inter"/>
                <a:ea typeface="Inter"/>
                <a:cs typeface="Inter"/>
                <a:sym typeface="Inter"/>
              </a:endParaRPr>
            </a:p>
            <a:p>
              <a:pPr indent="0" lvl="0" marL="0" rtl="0" algn="l">
                <a:spcBef>
                  <a:spcPts val="1500"/>
                </a:spcBef>
                <a:spcAft>
                  <a:spcPts val="0"/>
                </a:spcAft>
                <a:buNone/>
              </a:pPr>
              <a:r>
                <a:rPr b="1" lang="tr" sz="925">
                  <a:solidFill>
                    <a:srgbClr val="22D3EE"/>
                  </a:solidFill>
                  <a:latin typeface="Inter"/>
                  <a:ea typeface="Inter"/>
                  <a:cs typeface="Inter"/>
                  <a:sym typeface="Inter"/>
                </a:rPr>
                <a:t>IMPACT</a:t>
              </a:r>
              <a:br>
                <a:rPr b="0" lang="tr" sz="1203">
                  <a:solidFill>
                    <a:srgbClr val="E2E8F0"/>
                  </a:solidFill>
                  <a:latin typeface="Inter"/>
                  <a:ea typeface="Inter"/>
                  <a:cs typeface="Inter"/>
                  <a:sym typeface="Inter"/>
                </a:rPr>
              </a:br>
              <a:r>
                <a:rPr b="0" lang="tr" sz="1203">
                  <a:solidFill>
                    <a:srgbClr val="E2E8F0"/>
                  </a:solidFill>
                  <a:latin typeface="Inter"/>
                  <a:ea typeface="Inter"/>
                  <a:cs typeface="Inter"/>
                  <a:sym typeface="Inter"/>
                </a:rPr>
                <a:t>Enables ENTSO-E smart grid operators to strategically prevent blackouts.</a:t>
              </a:r>
              <a:endParaRPr b="0" sz="1203">
                <a:solidFill>
                  <a:srgbClr val="E2E8F0"/>
                </a:solidFill>
                <a:latin typeface="Inter"/>
                <a:ea typeface="Inter"/>
                <a:cs typeface="Inter"/>
                <a:sym typeface="Inter"/>
              </a:endParaRPr>
            </a:p>
          </p:txBody>
        </p:sp>
      </p:grpSp>
      <p:pic>
        <p:nvPicPr>
          <p:cNvPr descr="A futuristic digital map of Europe showing high-tech glowing blue data nodes and energy transmission lines. Cinematic lighting, professional data visualization style." id="76" name="Google Shape;76;p15"/>
          <p:cNvPicPr preferRelativeResize="0"/>
          <p:nvPr/>
        </p:nvPicPr>
        <p:blipFill rotWithShape="1">
          <a:blip r:embed="rId5">
            <a:alphaModFix/>
          </a:blip>
          <a:srcRect b="0" l="0" r="0" t="0"/>
          <a:stretch/>
        </p:blipFill>
        <p:spPr>
          <a:xfrm>
            <a:off x="4762500" y="1809750"/>
            <a:ext cx="3810000" cy="2857500"/>
          </a:xfrm>
          <a:prstGeom prst="roundRect">
            <a:avLst>
              <a:gd fmla="val 4000" name="adj"/>
            </a:avLst>
          </a:prstGeom>
          <a:noFill/>
          <a:ln>
            <a:noFill/>
          </a:ln>
        </p:spPr>
      </p:pic>
      <p:pic>
        <p:nvPicPr>
          <p:cNvPr id="77" name="Google Shape;77;p15"/>
          <p:cNvPicPr preferRelativeResize="0"/>
          <p:nvPr/>
        </p:nvPicPr>
        <p:blipFill rotWithShape="1">
          <a:blip r:embed="rId6">
            <a:alphaModFix/>
          </a:blip>
          <a:srcRect b="0" l="0" r="0" t="0"/>
          <a:stretch/>
        </p:blipFill>
        <p:spPr>
          <a:xfrm>
            <a:off x="4757738" y="1804988"/>
            <a:ext cx="3819600" cy="2867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6"/>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83" name="Google Shape;83;p16"/>
          <p:cNvPicPr preferRelativeResize="0"/>
          <p:nvPr/>
        </p:nvPicPr>
        <p:blipFill rotWithShape="1">
          <a:blip r:embed="rId4">
            <a:alphaModFix/>
          </a:blip>
          <a:srcRect b="0" l="0" r="0" t="0"/>
          <a:stretch/>
        </p:blipFill>
        <p:spPr>
          <a:xfrm>
            <a:off x="0" y="0"/>
            <a:ext cx="9144000" cy="5143500"/>
          </a:xfrm>
          <a:prstGeom prst="rect">
            <a:avLst/>
          </a:prstGeom>
          <a:noFill/>
          <a:ln>
            <a:noFill/>
          </a:ln>
        </p:spPr>
      </p:pic>
      <p:sp>
        <p:nvSpPr>
          <p:cNvPr id="84" name="Google Shape;84;p16"/>
          <p:cNvSpPr/>
          <p:nvPr/>
        </p:nvSpPr>
        <p:spPr>
          <a:xfrm>
            <a:off x="571500" y="571500"/>
            <a:ext cx="381000" cy="38100"/>
          </a:xfrm>
          <a:prstGeom prst="rect">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 name="Google Shape;85;p16"/>
          <p:cNvSpPr txBox="1"/>
          <p:nvPr/>
        </p:nvSpPr>
        <p:spPr>
          <a:xfrm>
            <a:off x="571500" y="71437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1200">
                <a:solidFill>
                  <a:srgbClr val="A5F3FC"/>
                </a:solidFill>
                <a:latin typeface="Inter Light"/>
                <a:ea typeface="Inter Light"/>
                <a:cs typeface="Inter Light"/>
                <a:sym typeface="Inter Light"/>
              </a:rPr>
              <a:t>Multi-Disciplinary Engineering Project | Çukurova University</a:t>
            </a:r>
            <a:endParaRPr b="0" sz="1200">
              <a:solidFill>
                <a:srgbClr val="A5F3FC"/>
              </a:solidFill>
              <a:latin typeface="Inter Light"/>
              <a:ea typeface="Inter Light"/>
              <a:cs typeface="Inter Light"/>
              <a:sym typeface="Inter Light"/>
            </a:endParaRPr>
          </a:p>
        </p:txBody>
      </p:sp>
      <p:sp>
        <p:nvSpPr>
          <p:cNvPr id="86" name="Google Shape;86;p16"/>
          <p:cNvSpPr txBox="1"/>
          <p:nvPr/>
        </p:nvSpPr>
        <p:spPr>
          <a:xfrm>
            <a:off x="571500" y="1047750"/>
            <a:ext cx="800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tr" sz="2800">
                <a:solidFill>
                  <a:srgbClr val="FFFFFF"/>
                </a:solidFill>
                <a:latin typeface="Inter ExtraBold"/>
                <a:ea typeface="Inter ExtraBold"/>
                <a:cs typeface="Inter ExtraBold"/>
                <a:sym typeface="Inter ExtraBold"/>
              </a:rPr>
              <a:t>Multi-Disciplinary Team Structure</a:t>
            </a:r>
            <a:endParaRPr b="0" sz="2800">
              <a:solidFill>
                <a:srgbClr val="FFFFFF"/>
              </a:solidFill>
              <a:latin typeface="Inter ExtraBold"/>
              <a:ea typeface="Inter ExtraBold"/>
              <a:cs typeface="Inter ExtraBold"/>
              <a:sym typeface="Inter ExtraBold"/>
            </a:endParaRPr>
          </a:p>
        </p:txBody>
      </p:sp>
      <p:grpSp>
        <p:nvGrpSpPr>
          <p:cNvPr id="87" name="Google Shape;87;p16"/>
          <p:cNvGrpSpPr/>
          <p:nvPr/>
        </p:nvGrpSpPr>
        <p:grpSpPr>
          <a:xfrm>
            <a:off x="571500" y="1809750"/>
            <a:ext cx="8001000" cy="476400"/>
            <a:chOff x="571500" y="1809750"/>
            <a:chExt cx="8001000" cy="476400"/>
          </a:xfrm>
        </p:grpSpPr>
        <p:sp>
          <p:nvSpPr>
            <p:cNvPr id="88" name="Google Shape;88;p16"/>
            <p:cNvSpPr/>
            <p:nvPr/>
          </p:nvSpPr>
          <p:spPr>
            <a:xfrm>
              <a:off x="571500" y="1809750"/>
              <a:ext cx="8001000" cy="476400"/>
            </a:xfrm>
            <a:prstGeom prst="roundRect">
              <a:avLst>
                <a:gd fmla="val 20000"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6"/>
            <p:cNvSpPr txBox="1"/>
            <p:nvPr/>
          </p:nvSpPr>
          <p:spPr>
            <a:xfrm>
              <a:off x="762000" y="1809750"/>
              <a:ext cx="7620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tr" sz="1100">
                  <a:solidFill>
                    <a:srgbClr val="E2E8F0"/>
                  </a:solidFill>
                  <a:latin typeface="Inter"/>
                  <a:ea typeface="Inter"/>
                  <a:cs typeface="Inter"/>
                  <a:sym typeface="Inter"/>
                </a:rPr>
                <a:t>Coordinated a </a:t>
              </a:r>
              <a:r>
                <a:rPr b="1" lang="tr" sz="1100">
                  <a:solidFill>
                    <a:srgbClr val="22D3EE"/>
                  </a:solidFill>
                  <a:latin typeface="Inter"/>
                  <a:ea typeface="Inter"/>
                  <a:cs typeface="Inter"/>
                  <a:sym typeface="Inter"/>
                </a:rPr>
                <a:t>15-member team</a:t>
              </a:r>
              <a:r>
                <a:rPr b="0" lang="tr" sz="1100">
                  <a:solidFill>
                    <a:srgbClr val="E2E8F0"/>
                  </a:solidFill>
                  <a:latin typeface="Inter"/>
                  <a:ea typeface="Inter"/>
                  <a:cs typeface="Inter"/>
                  <a:sym typeface="Inter"/>
                </a:rPr>
                <a:t> split into </a:t>
              </a:r>
              <a:r>
                <a:rPr b="1" lang="tr" sz="1100">
                  <a:solidFill>
                    <a:srgbClr val="22D3EE"/>
                  </a:solidFill>
                  <a:latin typeface="Inter"/>
                  <a:ea typeface="Inter"/>
                  <a:cs typeface="Inter"/>
                  <a:sym typeface="Inter"/>
                </a:rPr>
                <a:t>5 specialized groups</a:t>
              </a:r>
              <a:endParaRPr b="0" sz="1100">
                <a:solidFill>
                  <a:srgbClr val="E2E8F0"/>
                </a:solidFill>
                <a:latin typeface="Inter"/>
                <a:ea typeface="Inter"/>
                <a:cs typeface="Inter"/>
                <a:sym typeface="Inter"/>
              </a:endParaRPr>
            </a:p>
          </p:txBody>
        </p:sp>
      </p:grpSp>
      <p:grpSp>
        <p:nvGrpSpPr>
          <p:cNvPr id="90" name="Google Shape;90;p16"/>
          <p:cNvGrpSpPr/>
          <p:nvPr/>
        </p:nvGrpSpPr>
        <p:grpSpPr>
          <a:xfrm>
            <a:off x="571500" y="2476500"/>
            <a:ext cx="1524000" cy="1143000"/>
            <a:chOff x="571500" y="2476500"/>
            <a:chExt cx="1524000" cy="1143000"/>
          </a:xfrm>
        </p:grpSpPr>
        <p:sp>
          <p:nvSpPr>
            <p:cNvPr id="91" name="Google Shape;91;p16"/>
            <p:cNvSpPr/>
            <p:nvPr/>
          </p:nvSpPr>
          <p:spPr>
            <a:xfrm>
              <a:off x="571500" y="2476500"/>
              <a:ext cx="1524000" cy="1143000"/>
            </a:xfrm>
            <a:prstGeom prst="roundRect">
              <a:avLst>
                <a:gd fmla="val 8333"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6"/>
            <p:cNvSpPr txBox="1"/>
            <p:nvPr/>
          </p:nvSpPr>
          <p:spPr>
            <a:xfrm>
              <a:off x="714375" y="2619375"/>
              <a:ext cx="1238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1100">
                  <a:solidFill>
                    <a:srgbClr val="22D3EE"/>
                  </a:solidFill>
                  <a:latin typeface="Inter"/>
                  <a:ea typeface="Inter"/>
                  <a:cs typeface="Inter"/>
                  <a:sym typeface="Inter"/>
                </a:rPr>
                <a:t>GROUP 1</a:t>
              </a:r>
              <a:endParaRPr b="1" sz="1100">
                <a:solidFill>
                  <a:srgbClr val="22D3EE"/>
                </a:solidFill>
                <a:latin typeface="Inter"/>
                <a:ea typeface="Inter"/>
                <a:cs typeface="Inter"/>
                <a:sym typeface="Inter"/>
              </a:endParaRPr>
            </a:p>
            <a:p>
              <a:pPr indent="0" lvl="0" marL="0" rtl="0" algn="l">
                <a:spcBef>
                  <a:spcPts val="600"/>
                </a:spcBef>
                <a:spcAft>
                  <a:spcPts val="0"/>
                </a:spcAft>
                <a:buNone/>
              </a:pPr>
              <a:r>
                <a:rPr b="0" lang="tr" sz="1100">
                  <a:solidFill>
                    <a:srgbClr val="E2E8F0"/>
                  </a:solidFill>
                  <a:latin typeface="Inter"/>
                  <a:ea typeface="Inter"/>
                  <a:cs typeface="Inter"/>
                  <a:sym typeface="Inter"/>
                </a:rPr>
                <a:t>Data Cleaning</a:t>
              </a:r>
              <a:endParaRPr b="0" sz="1100">
                <a:solidFill>
                  <a:srgbClr val="E2E8F0"/>
                </a:solidFill>
                <a:latin typeface="Inter"/>
                <a:ea typeface="Inter"/>
                <a:cs typeface="Inter"/>
                <a:sym typeface="Inter"/>
              </a:endParaRPr>
            </a:p>
          </p:txBody>
        </p:sp>
      </p:grpSp>
      <p:grpSp>
        <p:nvGrpSpPr>
          <p:cNvPr id="93" name="Google Shape;93;p16"/>
          <p:cNvGrpSpPr/>
          <p:nvPr/>
        </p:nvGrpSpPr>
        <p:grpSpPr>
          <a:xfrm>
            <a:off x="2190750" y="2476500"/>
            <a:ext cx="1524000" cy="1143000"/>
            <a:chOff x="2190750" y="2476500"/>
            <a:chExt cx="1524000" cy="1143000"/>
          </a:xfrm>
        </p:grpSpPr>
        <p:sp>
          <p:nvSpPr>
            <p:cNvPr id="94" name="Google Shape;94;p16"/>
            <p:cNvSpPr/>
            <p:nvPr/>
          </p:nvSpPr>
          <p:spPr>
            <a:xfrm>
              <a:off x="2190750" y="2476500"/>
              <a:ext cx="1524000" cy="1143000"/>
            </a:xfrm>
            <a:prstGeom prst="roundRect">
              <a:avLst>
                <a:gd fmla="val 8333"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6"/>
            <p:cNvSpPr txBox="1"/>
            <p:nvPr/>
          </p:nvSpPr>
          <p:spPr>
            <a:xfrm>
              <a:off x="2333625" y="2619375"/>
              <a:ext cx="1238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1100">
                  <a:solidFill>
                    <a:srgbClr val="22D3EE"/>
                  </a:solidFill>
                  <a:latin typeface="Inter"/>
                  <a:ea typeface="Inter"/>
                  <a:cs typeface="Inter"/>
                  <a:sym typeface="Inter"/>
                </a:rPr>
                <a:t>GROUP 2</a:t>
              </a:r>
              <a:endParaRPr b="1" sz="1100">
                <a:solidFill>
                  <a:srgbClr val="22D3EE"/>
                </a:solidFill>
                <a:latin typeface="Inter"/>
                <a:ea typeface="Inter"/>
                <a:cs typeface="Inter"/>
                <a:sym typeface="Inter"/>
              </a:endParaRPr>
            </a:p>
            <a:p>
              <a:pPr indent="0" lvl="0" marL="0" rtl="0" algn="l">
                <a:spcBef>
                  <a:spcPts val="600"/>
                </a:spcBef>
                <a:spcAft>
                  <a:spcPts val="0"/>
                </a:spcAft>
                <a:buNone/>
              </a:pPr>
              <a:r>
                <a:rPr b="0" lang="tr" sz="1100">
                  <a:solidFill>
                    <a:srgbClr val="E2E8F0"/>
                  </a:solidFill>
                  <a:latin typeface="Inter"/>
                  <a:ea typeface="Inter"/>
                  <a:cs typeface="Inter"/>
                  <a:sym typeface="Inter"/>
                </a:rPr>
                <a:t>Feature Engineering</a:t>
              </a:r>
              <a:endParaRPr b="0" sz="1100">
                <a:solidFill>
                  <a:srgbClr val="E2E8F0"/>
                </a:solidFill>
                <a:latin typeface="Inter"/>
                <a:ea typeface="Inter"/>
                <a:cs typeface="Inter"/>
                <a:sym typeface="Inter"/>
              </a:endParaRPr>
            </a:p>
          </p:txBody>
        </p:sp>
      </p:grpSp>
      <p:grpSp>
        <p:nvGrpSpPr>
          <p:cNvPr id="96" name="Google Shape;96;p16"/>
          <p:cNvGrpSpPr/>
          <p:nvPr/>
        </p:nvGrpSpPr>
        <p:grpSpPr>
          <a:xfrm>
            <a:off x="3810000" y="2476500"/>
            <a:ext cx="1524000" cy="1143000"/>
            <a:chOff x="3810000" y="2476500"/>
            <a:chExt cx="1524000" cy="1143000"/>
          </a:xfrm>
        </p:grpSpPr>
        <p:sp>
          <p:nvSpPr>
            <p:cNvPr id="97" name="Google Shape;97;p16"/>
            <p:cNvSpPr/>
            <p:nvPr/>
          </p:nvSpPr>
          <p:spPr>
            <a:xfrm>
              <a:off x="3810000" y="2476500"/>
              <a:ext cx="1524000" cy="1143000"/>
            </a:xfrm>
            <a:prstGeom prst="roundRect">
              <a:avLst>
                <a:gd fmla="val 8333"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6"/>
            <p:cNvSpPr txBox="1"/>
            <p:nvPr/>
          </p:nvSpPr>
          <p:spPr>
            <a:xfrm>
              <a:off x="3952875" y="2619375"/>
              <a:ext cx="1238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1100">
                  <a:solidFill>
                    <a:srgbClr val="22D3EE"/>
                  </a:solidFill>
                  <a:latin typeface="Inter"/>
                  <a:ea typeface="Inter"/>
                  <a:cs typeface="Inter"/>
                  <a:sym typeface="Inter"/>
                </a:rPr>
                <a:t>GROUP 3</a:t>
              </a:r>
              <a:endParaRPr b="1" sz="1100">
                <a:solidFill>
                  <a:srgbClr val="22D3EE"/>
                </a:solidFill>
                <a:latin typeface="Inter"/>
                <a:ea typeface="Inter"/>
                <a:cs typeface="Inter"/>
                <a:sym typeface="Inter"/>
              </a:endParaRPr>
            </a:p>
            <a:p>
              <a:pPr indent="0" lvl="0" marL="0" rtl="0" algn="l">
                <a:spcBef>
                  <a:spcPts val="600"/>
                </a:spcBef>
                <a:spcAft>
                  <a:spcPts val="0"/>
                </a:spcAft>
                <a:buNone/>
              </a:pPr>
              <a:r>
                <a:rPr b="0" lang="tr" sz="1100">
                  <a:solidFill>
                    <a:srgbClr val="E2E8F0"/>
                  </a:solidFill>
                  <a:latin typeface="Inter"/>
                  <a:ea typeface="Inter"/>
                  <a:cs typeface="Inter"/>
                  <a:sym typeface="Inter"/>
                </a:rPr>
                <a:t>EDA</a:t>
              </a:r>
              <a:endParaRPr b="0" sz="1100">
                <a:solidFill>
                  <a:srgbClr val="E2E8F0"/>
                </a:solidFill>
                <a:latin typeface="Inter"/>
                <a:ea typeface="Inter"/>
                <a:cs typeface="Inter"/>
                <a:sym typeface="Inter"/>
              </a:endParaRPr>
            </a:p>
          </p:txBody>
        </p:sp>
      </p:grpSp>
      <p:grpSp>
        <p:nvGrpSpPr>
          <p:cNvPr id="99" name="Google Shape;99;p16"/>
          <p:cNvGrpSpPr/>
          <p:nvPr/>
        </p:nvGrpSpPr>
        <p:grpSpPr>
          <a:xfrm>
            <a:off x="5429250" y="2476500"/>
            <a:ext cx="1524000" cy="1143000"/>
            <a:chOff x="5429250" y="2476500"/>
            <a:chExt cx="1524000" cy="1143000"/>
          </a:xfrm>
        </p:grpSpPr>
        <p:sp>
          <p:nvSpPr>
            <p:cNvPr id="100" name="Google Shape;100;p16"/>
            <p:cNvSpPr/>
            <p:nvPr/>
          </p:nvSpPr>
          <p:spPr>
            <a:xfrm>
              <a:off x="5429250" y="2476500"/>
              <a:ext cx="1524000" cy="1143000"/>
            </a:xfrm>
            <a:prstGeom prst="roundRect">
              <a:avLst>
                <a:gd fmla="val 8333"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6"/>
            <p:cNvSpPr txBox="1"/>
            <p:nvPr/>
          </p:nvSpPr>
          <p:spPr>
            <a:xfrm>
              <a:off x="5572125" y="2619375"/>
              <a:ext cx="1238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1100">
                  <a:solidFill>
                    <a:srgbClr val="22D3EE"/>
                  </a:solidFill>
                  <a:latin typeface="Inter"/>
                  <a:ea typeface="Inter"/>
                  <a:cs typeface="Inter"/>
                  <a:sym typeface="Inter"/>
                </a:rPr>
                <a:t>GROUP 4</a:t>
              </a:r>
              <a:endParaRPr b="1" sz="1100">
                <a:solidFill>
                  <a:srgbClr val="22D3EE"/>
                </a:solidFill>
                <a:latin typeface="Inter"/>
                <a:ea typeface="Inter"/>
                <a:cs typeface="Inter"/>
                <a:sym typeface="Inter"/>
              </a:endParaRPr>
            </a:p>
            <a:p>
              <a:pPr indent="0" lvl="0" marL="0" rtl="0" algn="l">
                <a:spcBef>
                  <a:spcPts val="600"/>
                </a:spcBef>
                <a:spcAft>
                  <a:spcPts val="0"/>
                </a:spcAft>
                <a:buNone/>
              </a:pPr>
              <a:r>
                <a:rPr b="0" lang="tr" sz="1100">
                  <a:solidFill>
                    <a:srgbClr val="E2E8F0"/>
                  </a:solidFill>
                  <a:latin typeface="Inter"/>
                  <a:ea typeface="Inter"/>
                  <a:cs typeface="Inter"/>
                  <a:sym typeface="Inter"/>
                </a:rPr>
                <a:t>Modeling</a:t>
              </a:r>
              <a:endParaRPr b="0" sz="1100">
                <a:solidFill>
                  <a:srgbClr val="E2E8F0"/>
                </a:solidFill>
                <a:latin typeface="Inter"/>
                <a:ea typeface="Inter"/>
                <a:cs typeface="Inter"/>
                <a:sym typeface="Inter"/>
              </a:endParaRPr>
            </a:p>
          </p:txBody>
        </p:sp>
      </p:grpSp>
      <p:grpSp>
        <p:nvGrpSpPr>
          <p:cNvPr id="102" name="Google Shape;102;p16"/>
          <p:cNvGrpSpPr/>
          <p:nvPr/>
        </p:nvGrpSpPr>
        <p:grpSpPr>
          <a:xfrm>
            <a:off x="7048500" y="2476500"/>
            <a:ext cx="1524000" cy="1143000"/>
            <a:chOff x="7048500" y="2476500"/>
            <a:chExt cx="1524000" cy="1143000"/>
          </a:xfrm>
        </p:grpSpPr>
        <p:sp>
          <p:nvSpPr>
            <p:cNvPr id="103" name="Google Shape;103;p16"/>
            <p:cNvSpPr/>
            <p:nvPr/>
          </p:nvSpPr>
          <p:spPr>
            <a:xfrm>
              <a:off x="7048500" y="2476500"/>
              <a:ext cx="1524000" cy="1143000"/>
            </a:xfrm>
            <a:prstGeom prst="roundRect">
              <a:avLst>
                <a:gd fmla="val 8333"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6"/>
            <p:cNvSpPr txBox="1"/>
            <p:nvPr/>
          </p:nvSpPr>
          <p:spPr>
            <a:xfrm>
              <a:off x="7191375" y="2619375"/>
              <a:ext cx="1238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1100">
                  <a:solidFill>
                    <a:srgbClr val="22D3EE"/>
                  </a:solidFill>
                  <a:latin typeface="Inter"/>
                  <a:ea typeface="Inter"/>
                  <a:cs typeface="Inter"/>
                  <a:sym typeface="Inter"/>
                </a:rPr>
                <a:t>GROUP 5</a:t>
              </a:r>
              <a:endParaRPr b="1" sz="1100">
                <a:solidFill>
                  <a:srgbClr val="22D3EE"/>
                </a:solidFill>
                <a:latin typeface="Inter"/>
                <a:ea typeface="Inter"/>
                <a:cs typeface="Inter"/>
                <a:sym typeface="Inter"/>
              </a:endParaRPr>
            </a:p>
            <a:p>
              <a:pPr indent="0" lvl="0" marL="0" rtl="0" algn="l">
                <a:spcBef>
                  <a:spcPts val="600"/>
                </a:spcBef>
                <a:spcAft>
                  <a:spcPts val="0"/>
                </a:spcAft>
                <a:buNone/>
              </a:pPr>
              <a:r>
                <a:rPr b="0" lang="tr" sz="1100">
                  <a:solidFill>
                    <a:srgbClr val="E2E8F0"/>
                  </a:solidFill>
                  <a:latin typeface="Inter"/>
                  <a:ea typeface="Inter"/>
                  <a:cs typeface="Inter"/>
                  <a:sym typeface="Inter"/>
                </a:rPr>
                <a:t>Documentation &amp; Formatting</a:t>
              </a:r>
              <a:endParaRPr b="0" sz="1100">
                <a:solidFill>
                  <a:srgbClr val="E2E8F0"/>
                </a:solidFill>
                <a:latin typeface="Inter"/>
                <a:ea typeface="Inter"/>
                <a:cs typeface="Inter"/>
                <a:sym typeface="Inter"/>
              </a:endParaRPr>
            </a:p>
          </p:txBody>
        </p:sp>
      </p:grpSp>
      <p:grpSp>
        <p:nvGrpSpPr>
          <p:cNvPr id="105" name="Google Shape;105;p16"/>
          <p:cNvGrpSpPr/>
          <p:nvPr/>
        </p:nvGrpSpPr>
        <p:grpSpPr>
          <a:xfrm>
            <a:off x="571500" y="3810000"/>
            <a:ext cx="8001000" cy="762000"/>
            <a:chOff x="571500" y="3810000"/>
            <a:chExt cx="8001000" cy="762000"/>
          </a:xfrm>
        </p:grpSpPr>
        <p:sp>
          <p:nvSpPr>
            <p:cNvPr id="106" name="Google Shape;106;p16"/>
            <p:cNvSpPr/>
            <p:nvPr/>
          </p:nvSpPr>
          <p:spPr>
            <a:xfrm>
              <a:off x="571500" y="3810000"/>
              <a:ext cx="8001000" cy="762000"/>
            </a:xfrm>
            <a:prstGeom prst="roundRect">
              <a:avLst>
                <a:gd fmla="val 12500"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6"/>
            <p:cNvSpPr txBox="1"/>
            <p:nvPr/>
          </p:nvSpPr>
          <p:spPr>
            <a:xfrm>
              <a:off x="762000" y="3952875"/>
              <a:ext cx="2857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tr" sz="1000">
                  <a:solidFill>
                    <a:srgbClr val="A5F3FC"/>
                  </a:solidFill>
                  <a:latin typeface="Inter SemiBold"/>
                  <a:ea typeface="Inter SemiBold"/>
                  <a:cs typeface="Inter SemiBold"/>
                  <a:sym typeface="Inter SemiBold"/>
                </a:rPr>
                <a:t>Presentations made by:</a:t>
              </a:r>
              <a:endParaRPr b="0" sz="1000">
                <a:solidFill>
                  <a:srgbClr val="A5F3FC"/>
                </a:solidFill>
                <a:latin typeface="Inter SemiBold"/>
                <a:ea typeface="Inter SemiBold"/>
                <a:cs typeface="Inter SemiBold"/>
                <a:sym typeface="Inter SemiBold"/>
              </a:endParaRPr>
            </a:p>
          </p:txBody>
        </p:sp>
        <p:sp>
          <p:nvSpPr>
            <p:cNvPr id="108" name="Google Shape;108;p16"/>
            <p:cNvSpPr txBox="1"/>
            <p:nvPr/>
          </p:nvSpPr>
          <p:spPr>
            <a:xfrm>
              <a:off x="3810000" y="3952875"/>
              <a:ext cx="21909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tr" sz="1100">
                  <a:solidFill>
                    <a:srgbClr val="FFFFFF"/>
                  </a:solidFill>
                  <a:latin typeface="Inter"/>
                  <a:ea typeface="Inter"/>
                  <a:cs typeface="Inter"/>
                  <a:sym typeface="Inter"/>
                </a:rPr>
                <a:t>Tofig Valiyev</a:t>
              </a:r>
              <a:endParaRPr b="1" sz="1100">
                <a:solidFill>
                  <a:srgbClr val="FFFFFF"/>
                </a:solidFill>
                <a:latin typeface="Inter"/>
                <a:ea typeface="Inter"/>
                <a:cs typeface="Inter"/>
                <a:sym typeface="Inter"/>
              </a:endParaRPr>
            </a:p>
          </p:txBody>
        </p:sp>
        <p:sp>
          <p:nvSpPr>
            <p:cNvPr id="109" name="Google Shape;109;p16"/>
            <p:cNvSpPr txBox="1"/>
            <p:nvPr/>
          </p:nvSpPr>
          <p:spPr>
            <a:xfrm>
              <a:off x="6191250" y="3952875"/>
              <a:ext cx="21909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tr" sz="1100">
                  <a:solidFill>
                    <a:srgbClr val="FFFFFF"/>
                  </a:solidFill>
                  <a:latin typeface="Inter"/>
                  <a:ea typeface="Inter"/>
                  <a:cs typeface="Inter"/>
                  <a:sym typeface="Inter"/>
                </a:rPr>
                <a:t>Kamal Asadov</a:t>
              </a:r>
              <a:endParaRPr b="1" sz="1100">
                <a:solidFill>
                  <a:srgbClr val="FFFFFF"/>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3" name="Shape 113"/>
        <p:cNvGrpSpPr/>
        <p:nvPr/>
      </p:nvGrpSpPr>
      <p:grpSpPr>
        <a:xfrm>
          <a:off x="0" y="0"/>
          <a:ext cx="0" cy="0"/>
          <a:chOff x="0" y="0"/>
          <a:chExt cx="0" cy="0"/>
        </a:xfrm>
      </p:grpSpPr>
      <p:pic>
        <p:nvPicPr>
          <p:cNvPr id="114" name="Google Shape;114;p1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5" name="Google Shape;115;p17"/>
          <p:cNvSpPr/>
          <p:nvPr/>
        </p:nvSpPr>
        <p:spPr>
          <a:xfrm>
            <a:off x="571500" y="571500"/>
            <a:ext cx="381000" cy="38100"/>
          </a:xfrm>
          <a:prstGeom prst="rect">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7"/>
          <p:cNvSpPr txBox="1"/>
          <p:nvPr/>
        </p:nvSpPr>
        <p:spPr>
          <a:xfrm>
            <a:off x="571500" y="71437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1110">
                <a:solidFill>
                  <a:srgbClr val="A5F3FC"/>
                </a:solidFill>
                <a:latin typeface="Inter Light"/>
                <a:ea typeface="Inter Light"/>
                <a:cs typeface="Inter Light"/>
                <a:sym typeface="Inter Light"/>
              </a:rPr>
              <a:t>Multi-Disciplinary Engineering Project | Çukurova University</a:t>
            </a:r>
            <a:endParaRPr b="0" sz="1110">
              <a:solidFill>
                <a:srgbClr val="A5F3FC"/>
              </a:solidFill>
              <a:latin typeface="Inter Light"/>
              <a:ea typeface="Inter Light"/>
              <a:cs typeface="Inter Light"/>
              <a:sym typeface="Inter Light"/>
            </a:endParaRPr>
          </a:p>
        </p:txBody>
      </p:sp>
      <p:sp>
        <p:nvSpPr>
          <p:cNvPr id="117" name="Google Shape;117;p17"/>
          <p:cNvSpPr txBox="1"/>
          <p:nvPr/>
        </p:nvSpPr>
        <p:spPr>
          <a:xfrm>
            <a:off x="571500" y="1047750"/>
            <a:ext cx="800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tr" sz="2800">
                <a:solidFill>
                  <a:srgbClr val="FFFFFF"/>
                </a:solidFill>
                <a:latin typeface="Inter ExtraBold"/>
                <a:ea typeface="Inter ExtraBold"/>
                <a:cs typeface="Inter ExtraBold"/>
                <a:sym typeface="Inter ExtraBold"/>
              </a:rPr>
              <a:t>Data Quality &amp; Raw Anomalies</a:t>
            </a:r>
            <a:endParaRPr b="0" sz="2800">
              <a:solidFill>
                <a:srgbClr val="FFFFFF"/>
              </a:solidFill>
              <a:latin typeface="Inter ExtraBold"/>
              <a:ea typeface="Inter ExtraBold"/>
              <a:cs typeface="Inter ExtraBold"/>
              <a:sym typeface="Inter ExtraBold"/>
            </a:endParaRPr>
          </a:p>
        </p:txBody>
      </p:sp>
      <p:sp>
        <p:nvSpPr>
          <p:cNvPr id="118" name="Google Shape;118;p17"/>
          <p:cNvSpPr/>
          <p:nvPr/>
        </p:nvSpPr>
        <p:spPr>
          <a:xfrm>
            <a:off x="571500" y="1905000"/>
            <a:ext cx="4000500" cy="2667000"/>
          </a:xfrm>
          <a:prstGeom prst="roundRect">
            <a:avLst>
              <a:gd fmla="val 4285"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7"/>
          <p:cNvSpPr txBox="1"/>
          <p:nvPr/>
        </p:nvSpPr>
        <p:spPr>
          <a:xfrm>
            <a:off x="809625" y="2143125"/>
            <a:ext cx="3524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925">
                <a:solidFill>
                  <a:srgbClr val="22D3EE"/>
                </a:solidFill>
                <a:latin typeface="Inter"/>
                <a:ea typeface="Inter"/>
                <a:cs typeface="Inter"/>
                <a:sym typeface="Inter"/>
              </a:rPr>
              <a:t>OBSERVATIONS</a:t>
            </a:r>
            <a:endParaRPr b="0" sz="1110">
              <a:solidFill>
                <a:srgbClr val="E2E8F0"/>
              </a:solidFill>
              <a:latin typeface="Inter"/>
              <a:ea typeface="Inter"/>
              <a:cs typeface="Inter"/>
              <a:sym typeface="Inter"/>
            </a:endParaRPr>
          </a:p>
          <a:p>
            <a:pPr indent="-299085" lvl="0" marL="457200" rtl="0" algn="l">
              <a:spcBef>
                <a:spcPts val="750"/>
              </a:spcBef>
              <a:spcAft>
                <a:spcPts val="0"/>
              </a:spcAft>
              <a:buClr>
                <a:srgbClr val="E2E8F0"/>
              </a:buClr>
              <a:buSzPts val="1110"/>
              <a:buFont typeface="Inter"/>
              <a:buChar char="●"/>
            </a:pPr>
            <a:r>
              <a:rPr b="0" lang="tr" sz="1110">
                <a:solidFill>
                  <a:srgbClr val="E2E8F0"/>
                </a:solidFill>
                <a:latin typeface="Inter"/>
                <a:ea typeface="Inter"/>
                <a:cs typeface="Inter"/>
                <a:sym typeface="Inter"/>
              </a:rPr>
              <a:t>Found factor-of-10 scaling errors in Germany.</a:t>
            </a:r>
            <a:endParaRPr b="0" sz="1110">
              <a:solidFill>
                <a:srgbClr val="E2E8F0"/>
              </a:solidFill>
              <a:latin typeface="Inter"/>
              <a:ea typeface="Inter"/>
              <a:cs typeface="Inter"/>
              <a:sym typeface="Inter"/>
            </a:endParaRPr>
          </a:p>
          <a:p>
            <a:pPr indent="-299085" lvl="0" marL="457200" rtl="0" algn="l">
              <a:spcBef>
                <a:spcPts val="900"/>
              </a:spcBef>
              <a:spcAft>
                <a:spcPts val="0"/>
              </a:spcAft>
              <a:buClr>
                <a:srgbClr val="E2E8F0"/>
              </a:buClr>
              <a:buSzPts val="1110"/>
              <a:buFont typeface="Inter"/>
              <a:buChar char="●"/>
            </a:pPr>
            <a:r>
              <a:rPr b="0" lang="tr" sz="1110">
                <a:solidFill>
                  <a:srgbClr val="E2E8F0"/>
                </a:solidFill>
                <a:latin typeface="Inter"/>
                <a:ea typeface="Inter"/>
                <a:cs typeface="Inter"/>
                <a:sym typeface="Inter"/>
              </a:rPr>
              <a:t>Discovered multi-trillion MW typographical errors in Romania.</a:t>
            </a:r>
            <a:endParaRPr b="0" sz="1110">
              <a:solidFill>
                <a:srgbClr val="E2E8F0"/>
              </a:solidFill>
              <a:latin typeface="Inter"/>
              <a:ea typeface="Inter"/>
              <a:cs typeface="Inter"/>
              <a:sym typeface="Inter"/>
            </a:endParaRPr>
          </a:p>
          <a:p>
            <a:pPr indent="-299085" lvl="0" marL="457200" rtl="0" algn="l">
              <a:spcBef>
                <a:spcPts val="900"/>
              </a:spcBef>
              <a:spcAft>
                <a:spcPts val="900"/>
              </a:spcAft>
              <a:buClr>
                <a:srgbClr val="E2E8F0"/>
              </a:buClr>
              <a:buSzPts val="1110"/>
              <a:buFont typeface="Inter"/>
              <a:buChar char="●"/>
            </a:pPr>
            <a:r>
              <a:rPr b="0" lang="tr" sz="1110">
                <a:solidFill>
                  <a:srgbClr val="E2E8F0"/>
                </a:solidFill>
                <a:latin typeface="Inter"/>
                <a:ea typeface="Inter"/>
                <a:cs typeface="Inter"/>
                <a:sym typeface="Inter"/>
              </a:rPr>
              <a:t>Kosovo was excluded due to insufficient 6-month data.</a:t>
            </a:r>
            <a:endParaRPr b="0" sz="1110">
              <a:solidFill>
                <a:srgbClr val="E2E8F0"/>
              </a:solidFill>
              <a:latin typeface="Inter"/>
              <a:ea typeface="Inter"/>
              <a:cs typeface="Inter"/>
              <a:sym typeface="Inter"/>
            </a:endParaRPr>
          </a:p>
        </p:txBody>
      </p:sp>
      <p:pic>
        <p:nvPicPr>
          <p:cNvPr descr="A cinematic, high-tech visualization of a digital error or data glitch. Abstract glowing blue data lines with visible fragments or broken connections to represent data anomalies. Professional, dark blue and cyan aesthetic." id="120" name="Google Shape;120;p17"/>
          <p:cNvPicPr preferRelativeResize="0"/>
          <p:nvPr/>
        </p:nvPicPr>
        <p:blipFill rotWithShape="1">
          <a:blip r:embed="rId4">
            <a:alphaModFix/>
          </a:blip>
          <a:srcRect b="0" l="0" r="0" t="0"/>
          <a:stretch/>
        </p:blipFill>
        <p:spPr>
          <a:xfrm>
            <a:off x="4762500" y="1809750"/>
            <a:ext cx="3810000" cy="2857500"/>
          </a:xfrm>
          <a:prstGeom prst="roundRect">
            <a:avLst>
              <a:gd fmla="val 4000" name="adj"/>
            </a:avLst>
          </a:prstGeom>
          <a:noFill/>
          <a:ln>
            <a:noFill/>
          </a:ln>
        </p:spPr>
      </p:pic>
      <p:pic>
        <p:nvPicPr>
          <p:cNvPr id="121" name="Google Shape;121;p17"/>
          <p:cNvPicPr preferRelativeResize="0"/>
          <p:nvPr/>
        </p:nvPicPr>
        <p:blipFill rotWithShape="1">
          <a:blip r:embed="rId5">
            <a:alphaModFix/>
          </a:blip>
          <a:srcRect b="0" l="0" r="0" t="0"/>
          <a:stretch/>
        </p:blipFill>
        <p:spPr>
          <a:xfrm>
            <a:off x="4757738" y="1804988"/>
            <a:ext cx="3819600" cy="2867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p:nvPr/>
        </p:nvSpPr>
        <p:spPr>
          <a:xfrm>
            <a:off x="0" y="0"/>
            <a:ext cx="9144000" cy="5143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27" name="Google Shape;127;p1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28" name="Google Shape;128;p18"/>
          <p:cNvSpPr/>
          <p:nvPr/>
        </p:nvSpPr>
        <p:spPr>
          <a:xfrm>
            <a:off x="571500" y="571500"/>
            <a:ext cx="381000" cy="38100"/>
          </a:xfrm>
          <a:prstGeom prst="rect">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8"/>
          <p:cNvSpPr txBox="1"/>
          <p:nvPr/>
        </p:nvSpPr>
        <p:spPr>
          <a:xfrm>
            <a:off x="571500" y="71437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1200">
                <a:solidFill>
                  <a:srgbClr val="A5F3FC"/>
                </a:solidFill>
                <a:latin typeface="Inter Light"/>
                <a:ea typeface="Inter Light"/>
                <a:cs typeface="Inter Light"/>
                <a:sym typeface="Inter Light"/>
              </a:rPr>
              <a:t>Multi-Disciplinary Engineering Project | Çukurova University</a:t>
            </a:r>
            <a:endParaRPr b="0" sz="1200">
              <a:solidFill>
                <a:srgbClr val="A5F3FC"/>
              </a:solidFill>
              <a:latin typeface="Inter Light"/>
              <a:ea typeface="Inter Light"/>
              <a:cs typeface="Inter Light"/>
              <a:sym typeface="Inter Light"/>
            </a:endParaRPr>
          </a:p>
        </p:txBody>
      </p:sp>
      <p:sp>
        <p:nvSpPr>
          <p:cNvPr id="130" name="Google Shape;130;p18"/>
          <p:cNvSpPr txBox="1"/>
          <p:nvPr/>
        </p:nvSpPr>
        <p:spPr>
          <a:xfrm>
            <a:off x="571500" y="1047750"/>
            <a:ext cx="800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tr" sz="2800">
                <a:solidFill>
                  <a:srgbClr val="FFFFFF"/>
                </a:solidFill>
                <a:latin typeface="Inter ExtraBold"/>
                <a:ea typeface="Inter ExtraBold"/>
                <a:cs typeface="Inter ExtraBold"/>
                <a:sym typeface="Inter ExtraBold"/>
              </a:rPr>
              <a:t>Data Cleaning &amp; Interpolation Pipeline</a:t>
            </a:r>
            <a:endParaRPr b="0" sz="2800">
              <a:solidFill>
                <a:srgbClr val="FFFFFF"/>
              </a:solidFill>
              <a:latin typeface="Inter ExtraBold"/>
              <a:ea typeface="Inter ExtraBold"/>
              <a:cs typeface="Inter ExtraBold"/>
              <a:sym typeface="Inter ExtraBold"/>
            </a:endParaRPr>
          </a:p>
        </p:txBody>
      </p:sp>
      <p:sp>
        <p:nvSpPr>
          <p:cNvPr id="131" name="Google Shape;131;p18"/>
          <p:cNvSpPr/>
          <p:nvPr/>
        </p:nvSpPr>
        <p:spPr>
          <a:xfrm>
            <a:off x="571500" y="1905000"/>
            <a:ext cx="4000500" cy="2667000"/>
          </a:xfrm>
          <a:prstGeom prst="roundRect">
            <a:avLst>
              <a:gd fmla="val 4285"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8"/>
          <p:cNvSpPr txBox="1"/>
          <p:nvPr/>
        </p:nvSpPr>
        <p:spPr>
          <a:xfrm>
            <a:off x="809625" y="2143125"/>
            <a:ext cx="3524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925">
                <a:solidFill>
                  <a:srgbClr val="22D3EE"/>
                </a:solidFill>
                <a:latin typeface="Inter"/>
                <a:ea typeface="Inter"/>
                <a:cs typeface="Inter"/>
                <a:sym typeface="Inter"/>
              </a:rPr>
              <a:t>PIPELINE ARCHITECTURE</a:t>
            </a:r>
            <a:endParaRPr b="1" sz="925">
              <a:solidFill>
                <a:srgbClr val="22D3EE"/>
              </a:solidFill>
              <a:latin typeface="Inter"/>
              <a:ea typeface="Inter"/>
              <a:cs typeface="Inter"/>
              <a:sym typeface="Inter"/>
            </a:endParaRPr>
          </a:p>
          <a:p>
            <a:pPr indent="0" lvl="0" marL="0" rtl="0" algn="l">
              <a:spcBef>
                <a:spcPts val="1125"/>
              </a:spcBef>
              <a:spcAft>
                <a:spcPts val="0"/>
              </a:spcAft>
              <a:buNone/>
            </a:pPr>
            <a:r>
              <a:rPr b="0" lang="tr" sz="1150">
                <a:solidFill>
                  <a:srgbClr val="E2E8F0"/>
                </a:solidFill>
                <a:latin typeface="Inter"/>
                <a:ea typeface="Inter"/>
                <a:cs typeface="Inter"/>
                <a:sym typeface="Inter"/>
              </a:rPr>
              <a:t>Built an automated </a:t>
            </a:r>
            <a:r>
              <a:rPr b="1" lang="tr" sz="1150">
                <a:solidFill>
                  <a:srgbClr val="22D3EE"/>
                </a:solidFill>
                <a:latin typeface="Inter"/>
                <a:ea typeface="Inter"/>
                <a:cs typeface="Inter"/>
                <a:sym typeface="Inter"/>
              </a:rPr>
              <a:t>Python pipeline</a:t>
            </a:r>
            <a:r>
              <a:rPr b="0" lang="tr" sz="1150">
                <a:solidFill>
                  <a:srgbClr val="E2E8F0"/>
                </a:solidFill>
                <a:latin typeface="Inter"/>
                <a:ea typeface="Inter"/>
                <a:cs typeface="Inter"/>
                <a:sym typeface="Inter"/>
              </a:rPr>
              <a:t> for standardized processing.</a:t>
            </a:r>
            <a:endParaRPr b="0" sz="1150">
              <a:solidFill>
                <a:srgbClr val="E2E8F0"/>
              </a:solidFill>
              <a:latin typeface="Inter"/>
              <a:ea typeface="Inter"/>
              <a:cs typeface="Inter"/>
              <a:sym typeface="Inter"/>
            </a:endParaRPr>
          </a:p>
          <a:p>
            <a:pPr indent="0" lvl="0" marL="0" rtl="0" algn="l">
              <a:spcBef>
                <a:spcPts val="900"/>
              </a:spcBef>
              <a:spcAft>
                <a:spcPts val="0"/>
              </a:spcAft>
              <a:buNone/>
            </a:pPr>
            <a:r>
              <a:rPr b="0" lang="tr" sz="1150">
                <a:solidFill>
                  <a:srgbClr val="E2E8F0"/>
                </a:solidFill>
                <a:latin typeface="Inter"/>
                <a:ea typeface="Inter"/>
                <a:cs typeface="Inter"/>
                <a:sym typeface="Inter"/>
              </a:rPr>
              <a:t>Isolated outliers using a </a:t>
            </a:r>
            <a:r>
              <a:rPr b="1" lang="tr" sz="1150">
                <a:solidFill>
                  <a:srgbClr val="22D3EE"/>
                </a:solidFill>
                <a:latin typeface="Inter"/>
                <a:ea typeface="Inter"/>
                <a:cs typeface="Inter"/>
                <a:sym typeface="Inter"/>
              </a:rPr>
              <a:t>5-hour rolling median</a:t>
            </a:r>
            <a:r>
              <a:rPr b="0" lang="tr" sz="1150">
                <a:solidFill>
                  <a:srgbClr val="E2E8F0"/>
                </a:solidFill>
                <a:latin typeface="Inter"/>
                <a:ea typeface="Inter"/>
                <a:cs typeface="Inter"/>
                <a:sym typeface="Inter"/>
              </a:rPr>
              <a:t> window.</a:t>
            </a:r>
            <a:endParaRPr b="0" sz="1150">
              <a:solidFill>
                <a:srgbClr val="E2E8F0"/>
              </a:solidFill>
              <a:latin typeface="Inter"/>
              <a:ea typeface="Inter"/>
              <a:cs typeface="Inter"/>
              <a:sym typeface="Inter"/>
            </a:endParaRPr>
          </a:p>
          <a:p>
            <a:pPr indent="0" lvl="0" marL="0" rtl="0" algn="l">
              <a:spcBef>
                <a:spcPts val="900"/>
              </a:spcBef>
              <a:spcAft>
                <a:spcPts val="0"/>
              </a:spcAft>
              <a:buNone/>
            </a:pPr>
            <a:r>
              <a:rPr b="0" lang="tr" sz="1150">
                <a:solidFill>
                  <a:srgbClr val="E2E8F0"/>
                </a:solidFill>
                <a:latin typeface="Inter"/>
                <a:ea typeface="Inter"/>
                <a:cs typeface="Inter"/>
                <a:sym typeface="Inter"/>
              </a:rPr>
              <a:t>Replaced errors deviating over </a:t>
            </a:r>
            <a:r>
              <a:rPr b="1" lang="tr" sz="1150">
                <a:solidFill>
                  <a:srgbClr val="22D3EE"/>
                </a:solidFill>
                <a:latin typeface="Inter"/>
                <a:ea typeface="Inter"/>
                <a:cs typeface="Inter"/>
                <a:sym typeface="Inter"/>
              </a:rPr>
              <a:t>60%</a:t>
            </a:r>
            <a:r>
              <a:rPr b="0" lang="tr" sz="1150">
                <a:solidFill>
                  <a:srgbClr val="E2E8F0"/>
                </a:solidFill>
                <a:latin typeface="Inter"/>
                <a:ea typeface="Inter"/>
                <a:cs typeface="Inter"/>
                <a:sym typeface="Inter"/>
              </a:rPr>
              <a:t> with NaN values.</a:t>
            </a:r>
            <a:endParaRPr b="0" sz="1150">
              <a:solidFill>
                <a:srgbClr val="E2E8F0"/>
              </a:solidFill>
              <a:latin typeface="Inter"/>
              <a:ea typeface="Inter"/>
              <a:cs typeface="Inter"/>
              <a:sym typeface="Inter"/>
            </a:endParaRPr>
          </a:p>
          <a:p>
            <a:pPr indent="0" lvl="0" marL="0" rtl="0" algn="l">
              <a:spcBef>
                <a:spcPts val="900"/>
              </a:spcBef>
              <a:spcAft>
                <a:spcPts val="900"/>
              </a:spcAft>
              <a:buNone/>
            </a:pPr>
            <a:r>
              <a:rPr b="0" lang="tr" sz="1150">
                <a:solidFill>
                  <a:srgbClr val="E2E8F0"/>
                </a:solidFill>
                <a:latin typeface="Inter"/>
                <a:ea typeface="Inter"/>
                <a:cs typeface="Inter"/>
                <a:sym typeface="Inter"/>
              </a:rPr>
              <a:t>Reconstructed gaps using </a:t>
            </a:r>
            <a:r>
              <a:rPr b="1" lang="tr" sz="1150">
                <a:solidFill>
                  <a:srgbClr val="22D3EE"/>
                </a:solidFill>
                <a:latin typeface="Inter"/>
                <a:ea typeface="Inter"/>
                <a:cs typeface="Inter"/>
                <a:sym typeface="Inter"/>
              </a:rPr>
              <a:t>country-grouped linear interpolation</a:t>
            </a:r>
            <a:r>
              <a:rPr b="0" lang="tr" sz="1150">
                <a:solidFill>
                  <a:srgbClr val="E2E8F0"/>
                </a:solidFill>
                <a:latin typeface="Inter"/>
                <a:ea typeface="Inter"/>
                <a:cs typeface="Inter"/>
                <a:sym typeface="Inter"/>
              </a:rPr>
              <a:t> for a noise-free time series.</a:t>
            </a:r>
            <a:endParaRPr b="0" sz="1150">
              <a:solidFill>
                <a:srgbClr val="E2E8F0"/>
              </a:solidFill>
              <a:latin typeface="Inter"/>
              <a:ea typeface="Inter"/>
              <a:cs typeface="Inter"/>
              <a:sym typeface="Inter"/>
            </a:endParaRPr>
          </a:p>
        </p:txBody>
      </p:sp>
      <p:pic>
        <p:nvPicPr>
          <p:cNvPr descr="A futuristic, cinematic 3D visualization of a data cleaning process. Glowing blue data points being filtered through a digital sieve or a clean stream of digital code emerging from a chaotic cluster of nodes. High-tech energy, professional dark blue aesthetic." id="133" name="Google Shape;133;p18"/>
          <p:cNvPicPr preferRelativeResize="0"/>
          <p:nvPr/>
        </p:nvPicPr>
        <p:blipFill rotWithShape="1">
          <a:blip r:embed="rId4">
            <a:alphaModFix/>
          </a:blip>
          <a:srcRect b="0" l="0" r="0" t="0"/>
          <a:stretch/>
        </p:blipFill>
        <p:spPr>
          <a:xfrm>
            <a:off x="4762500" y="1809750"/>
            <a:ext cx="3810000" cy="2857500"/>
          </a:xfrm>
          <a:prstGeom prst="roundRect">
            <a:avLst>
              <a:gd fmla="val 4000" name="adj"/>
            </a:avLst>
          </a:prstGeom>
          <a:noFill/>
          <a:ln>
            <a:noFill/>
          </a:ln>
        </p:spPr>
      </p:pic>
      <p:pic>
        <p:nvPicPr>
          <p:cNvPr id="134" name="Google Shape;134;p18"/>
          <p:cNvPicPr preferRelativeResize="0"/>
          <p:nvPr/>
        </p:nvPicPr>
        <p:blipFill rotWithShape="1">
          <a:blip r:embed="rId5">
            <a:alphaModFix/>
          </a:blip>
          <a:srcRect b="0" l="0" r="0" t="0"/>
          <a:stretch/>
        </p:blipFill>
        <p:spPr>
          <a:xfrm>
            <a:off x="4757738" y="1804988"/>
            <a:ext cx="3819600" cy="2867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8" name="Shape 138"/>
        <p:cNvGrpSpPr/>
        <p:nvPr/>
      </p:nvGrpSpPr>
      <p:grpSpPr>
        <a:xfrm>
          <a:off x="0" y="0"/>
          <a:ext cx="0" cy="0"/>
          <a:chOff x="0" y="0"/>
          <a:chExt cx="0" cy="0"/>
        </a:xfrm>
      </p:grpSpPr>
      <p:sp>
        <p:nvSpPr>
          <p:cNvPr id="139" name="Google Shape;139;p19"/>
          <p:cNvSpPr/>
          <p:nvPr/>
        </p:nvSpPr>
        <p:spPr>
          <a:xfrm>
            <a:off x="571500" y="571500"/>
            <a:ext cx="381000" cy="38100"/>
          </a:xfrm>
          <a:prstGeom prst="rect">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9"/>
          <p:cNvSpPr txBox="1"/>
          <p:nvPr/>
        </p:nvSpPr>
        <p:spPr>
          <a:xfrm>
            <a:off x="571500" y="71437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1200">
                <a:solidFill>
                  <a:srgbClr val="A5F3FC"/>
                </a:solidFill>
                <a:latin typeface="Inter Light"/>
                <a:ea typeface="Inter Light"/>
                <a:cs typeface="Inter Light"/>
                <a:sym typeface="Inter Light"/>
              </a:rPr>
              <a:t>Multi-Disciplinary Engineering Project | Çukurova University</a:t>
            </a:r>
            <a:endParaRPr b="0" sz="1200">
              <a:solidFill>
                <a:srgbClr val="A5F3FC"/>
              </a:solidFill>
              <a:latin typeface="Inter Light"/>
              <a:ea typeface="Inter Light"/>
              <a:cs typeface="Inter Light"/>
              <a:sym typeface="Inter Light"/>
            </a:endParaRPr>
          </a:p>
        </p:txBody>
      </p:sp>
      <p:sp>
        <p:nvSpPr>
          <p:cNvPr id="141" name="Google Shape;141;p19"/>
          <p:cNvSpPr txBox="1"/>
          <p:nvPr/>
        </p:nvSpPr>
        <p:spPr>
          <a:xfrm>
            <a:off x="571500" y="1047750"/>
            <a:ext cx="800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tr" sz="2800">
                <a:solidFill>
                  <a:srgbClr val="FFFFFF"/>
                </a:solidFill>
                <a:latin typeface="Inter ExtraBold"/>
                <a:ea typeface="Inter ExtraBold"/>
                <a:cs typeface="Inter ExtraBold"/>
                <a:sym typeface="Inter ExtraBold"/>
              </a:rPr>
              <a:t>Temporal &amp; Cyclical Feature Engineering</a:t>
            </a:r>
            <a:endParaRPr b="0" sz="2800">
              <a:solidFill>
                <a:srgbClr val="FFFFFF"/>
              </a:solidFill>
              <a:latin typeface="Inter ExtraBold"/>
              <a:ea typeface="Inter ExtraBold"/>
              <a:cs typeface="Inter ExtraBold"/>
              <a:sym typeface="Inter ExtraBold"/>
            </a:endParaRPr>
          </a:p>
        </p:txBody>
      </p:sp>
      <p:sp>
        <p:nvSpPr>
          <p:cNvPr id="142" name="Google Shape;142;p19"/>
          <p:cNvSpPr/>
          <p:nvPr/>
        </p:nvSpPr>
        <p:spPr>
          <a:xfrm>
            <a:off x="571500" y="1905000"/>
            <a:ext cx="4000500" cy="2667000"/>
          </a:xfrm>
          <a:prstGeom prst="roundRect">
            <a:avLst>
              <a:gd fmla="val 4285"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9"/>
          <p:cNvSpPr txBox="1"/>
          <p:nvPr/>
        </p:nvSpPr>
        <p:spPr>
          <a:xfrm>
            <a:off x="809625" y="2143125"/>
            <a:ext cx="3524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925">
                <a:solidFill>
                  <a:srgbClr val="22D3EE"/>
                </a:solidFill>
                <a:latin typeface="Inter"/>
                <a:ea typeface="Inter"/>
                <a:cs typeface="Inter"/>
                <a:sym typeface="Inter"/>
              </a:rPr>
              <a:t>ENGINEERING STRATEGY</a:t>
            </a:r>
            <a:endParaRPr b="1" sz="925">
              <a:solidFill>
                <a:srgbClr val="22D3EE"/>
              </a:solidFill>
              <a:latin typeface="Inter"/>
              <a:ea typeface="Inter"/>
              <a:cs typeface="Inter"/>
              <a:sym typeface="Inter"/>
            </a:endParaRPr>
          </a:p>
          <a:p>
            <a:pPr indent="-301625" lvl="0" marL="457200" rtl="0" algn="l">
              <a:spcBef>
                <a:spcPts val="1125"/>
              </a:spcBef>
              <a:spcAft>
                <a:spcPts val="0"/>
              </a:spcAft>
              <a:buClr>
                <a:srgbClr val="E2E8F0"/>
              </a:buClr>
              <a:buSzPts val="1150"/>
              <a:buFont typeface="Inter"/>
              <a:buChar char="●"/>
            </a:pPr>
            <a:r>
              <a:rPr b="0" lang="tr" sz="1150">
                <a:solidFill>
                  <a:srgbClr val="E2E8F0"/>
                </a:solidFill>
                <a:latin typeface="Inter"/>
                <a:ea typeface="Inter"/>
                <a:cs typeface="Inter"/>
                <a:sym typeface="Inter"/>
              </a:rPr>
              <a:t>Extracted time features like </a:t>
            </a:r>
            <a:r>
              <a:rPr b="1" lang="tr" sz="1150">
                <a:solidFill>
                  <a:srgbClr val="22D3EE"/>
                </a:solidFill>
                <a:latin typeface="Inter"/>
                <a:ea typeface="Inter"/>
                <a:cs typeface="Inter"/>
                <a:sym typeface="Inter"/>
              </a:rPr>
              <a:t>Hour, Month, and Weekend</a:t>
            </a:r>
            <a:r>
              <a:rPr b="0" lang="tr" sz="1150">
                <a:solidFill>
                  <a:srgbClr val="E2E8F0"/>
                </a:solidFill>
                <a:latin typeface="Inter"/>
                <a:ea typeface="Inter"/>
                <a:cs typeface="Inter"/>
                <a:sym typeface="Inter"/>
              </a:rPr>
              <a:t>.</a:t>
            </a:r>
            <a:endParaRPr b="0" sz="1150">
              <a:solidFill>
                <a:srgbClr val="E2E8F0"/>
              </a:solidFill>
              <a:latin typeface="Inter"/>
              <a:ea typeface="Inter"/>
              <a:cs typeface="Inter"/>
              <a:sym typeface="Inter"/>
            </a:endParaRPr>
          </a:p>
          <a:p>
            <a:pPr indent="-301625" lvl="0" marL="457200" rtl="0" algn="l">
              <a:spcBef>
                <a:spcPts val="900"/>
              </a:spcBef>
              <a:spcAft>
                <a:spcPts val="0"/>
              </a:spcAft>
              <a:buClr>
                <a:srgbClr val="E2E8F0"/>
              </a:buClr>
              <a:buSzPts val="1150"/>
              <a:buFont typeface="Inter"/>
              <a:buChar char="●"/>
            </a:pPr>
            <a:r>
              <a:rPr b="0" lang="tr" sz="1150">
                <a:solidFill>
                  <a:srgbClr val="E2E8F0"/>
                </a:solidFill>
                <a:latin typeface="Inter"/>
                <a:ea typeface="Inter"/>
                <a:cs typeface="Inter"/>
                <a:sym typeface="Inter"/>
              </a:rPr>
              <a:t>Captured historical autocorrelation using </a:t>
            </a:r>
            <a:r>
              <a:rPr b="1" lang="tr" sz="1150">
                <a:solidFill>
                  <a:srgbClr val="22D3EE"/>
                </a:solidFill>
                <a:latin typeface="Inter"/>
                <a:ea typeface="Inter"/>
                <a:cs typeface="Inter"/>
                <a:sym typeface="Inter"/>
              </a:rPr>
              <a:t>1-hour and 24-hour lag variables</a:t>
            </a:r>
            <a:r>
              <a:rPr b="0" lang="tr" sz="1150">
                <a:solidFill>
                  <a:srgbClr val="E2E8F0"/>
                </a:solidFill>
                <a:latin typeface="Inter"/>
                <a:ea typeface="Inter"/>
                <a:cs typeface="Inter"/>
                <a:sym typeface="Inter"/>
              </a:rPr>
              <a:t>.</a:t>
            </a:r>
            <a:endParaRPr b="0" sz="1150">
              <a:solidFill>
                <a:srgbClr val="E2E8F0"/>
              </a:solidFill>
              <a:latin typeface="Inter"/>
              <a:ea typeface="Inter"/>
              <a:cs typeface="Inter"/>
              <a:sym typeface="Inter"/>
            </a:endParaRPr>
          </a:p>
          <a:p>
            <a:pPr indent="-301625" lvl="0" marL="457200" rtl="0" algn="l">
              <a:spcBef>
                <a:spcPts val="900"/>
              </a:spcBef>
              <a:spcAft>
                <a:spcPts val="900"/>
              </a:spcAft>
              <a:buClr>
                <a:srgbClr val="E2E8F0"/>
              </a:buClr>
              <a:buSzPts val="1150"/>
              <a:buFont typeface="Inter"/>
              <a:buChar char="●"/>
            </a:pPr>
            <a:r>
              <a:rPr b="0" lang="tr" sz="1150">
                <a:solidFill>
                  <a:srgbClr val="E2E8F0"/>
                </a:solidFill>
                <a:latin typeface="Inter"/>
                <a:ea typeface="Inter"/>
                <a:cs typeface="Inter"/>
                <a:sym typeface="Inter"/>
              </a:rPr>
              <a:t>Built a </a:t>
            </a:r>
            <a:r>
              <a:rPr b="1" lang="tr" sz="1150">
                <a:solidFill>
                  <a:srgbClr val="22D3EE"/>
                </a:solidFill>
                <a:latin typeface="Inter"/>
                <a:ea typeface="Inter"/>
                <a:cs typeface="Inter"/>
                <a:sym typeface="Inter"/>
              </a:rPr>
              <a:t>24-hour rolling mean</a:t>
            </a:r>
            <a:r>
              <a:rPr b="0" lang="tr" sz="1150">
                <a:solidFill>
                  <a:srgbClr val="E2E8F0"/>
                </a:solidFill>
                <a:latin typeface="Inter"/>
                <a:ea typeface="Inter"/>
                <a:cs typeface="Inter"/>
                <a:sym typeface="Inter"/>
              </a:rPr>
              <a:t> to capture the baseline energy demand and filter micro-spikes.</a:t>
            </a:r>
            <a:endParaRPr b="0" sz="1150">
              <a:solidFill>
                <a:srgbClr val="E2E8F0"/>
              </a:solidFill>
              <a:latin typeface="Inter"/>
              <a:ea typeface="Inter"/>
              <a:cs typeface="Inter"/>
              <a:sym typeface="Inter"/>
            </a:endParaRPr>
          </a:p>
        </p:txBody>
      </p:sp>
      <p:pic>
        <p:nvPicPr>
          <p:cNvPr descr="A cinematic visualization of time-series data with glowing blue waves and clock symbols. Abstract representation of energy demand cycles (day/night, seasons) with high-tech digital elements. Dark blue and cyan aesthetic." id="144" name="Google Shape;144;p19"/>
          <p:cNvPicPr preferRelativeResize="0"/>
          <p:nvPr/>
        </p:nvPicPr>
        <p:blipFill rotWithShape="1">
          <a:blip r:embed="rId3">
            <a:alphaModFix/>
          </a:blip>
          <a:srcRect b="0" l="0" r="0" t="0"/>
          <a:stretch/>
        </p:blipFill>
        <p:spPr>
          <a:xfrm>
            <a:off x="4762500" y="1809750"/>
            <a:ext cx="3810000" cy="2857500"/>
          </a:xfrm>
          <a:prstGeom prst="roundRect">
            <a:avLst>
              <a:gd fmla="val 4000" name="adj"/>
            </a:avLst>
          </a:prstGeom>
          <a:noFill/>
          <a:ln>
            <a:noFill/>
          </a:ln>
        </p:spPr>
      </p:pic>
      <p:sp>
        <p:nvSpPr>
          <p:cNvPr id="145" name="Google Shape;145;p19"/>
          <p:cNvSpPr/>
          <p:nvPr/>
        </p:nvSpPr>
        <p:spPr>
          <a:xfrm>
            <a:off x="4762500" y="1809750"/>
            <a:ext cx="3810000" cy="2857500"/>
          </a:xfrm>
          <a:prstGeom prst="roundRect">
            <a:avLst>
              <a:gd fmla="val 4000" name="adj"/>
            </a:avLst>
          </a:prstGeom>
          <a:solidFill>
            <a:srgbClr val="000000">
              <a:alpha val="0"/>
            </a:srgbClr>
          </a:solidFill>
          <a:ln cap="flat" cmpd="sng" w="9525">
            <a:solidFill>
              <a:srgbClr val="22D3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 name="Shape 149"/>
        <p:cNvGrpSpPr/>
        <p:nvPr/>
      </p:nvGrpSpPr>
      <p:grpSpPr>
        <a:xfrm>
          <a:off x="0" y="0"/>
          <a:ext cx="0" cy="0"/>
          <a:chOff x="0" y="0"/>
          <a:chExt cx="0" cy="0"/>
        </a:xfrm>
      </p:grpSpPr>
      <p:pic>
        <p:nvPicPr>
          <p:cNvPr id="150" name="Google Shape;150;p20"/>
          <p:cNvPicPr preferRelativeResize="0"/>
          <p:nvPr/>
        </p:nvPicPr>
        <p:blipFill rotWithShape="1">
          <a:blip r:embed="rId4">
            <a:alphaModFix/>
          </a:blip>
          <a:srcRect b="0" l="0" r="0" t="0"/>
          <a:stretch/>
        </p:blipFill>
        <p:spPr>
          <a:xfrm>
            <a:off x="0" y="0"/>
            <a:ext cx="9144000" cy="5143500"/>
          </a:xfrm>
          <a:prstGeom prst="rect">
            <a:avLst/>
          </a:prstGeom>
          <a:noFill/>
          <a:ln>
            <a:noFill/>
          </a:ln>
        </p:spPr>
      </p:pic>
      <p:sp>
        <p:nvSpPr>
          <p:cNvPr id="151" name="Google Shape;151;p20"/>
          <p:cNvSpPr/>
          <p:nvPr/>
        </p:nvSpPr>
        <p:spPr>
          <a:xfrm>
            <a:off x="571500" y="571500"/>
            <a:ext cx="381000" cy="38100"/>
          </a:xfrm>
          <a:prstGeom prst="rect">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20"/>
          <p:cNvSpPr txBox="1"/>
          <p:nvPr/>
        </p:nvSpPr>
        <p:spPr>
          <a:xfrm>
            <a:off x="571500" y="71437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1200">
                <a:solidFill>
                  <a:srgbClr val="A5F3FC"/>
                </a:solidFill>
                <a:latin typeface="Inter Light"/>
                <a:ea typeface="Inter Light"/>
                <a:cs typeface="Inter Light"/>
                <a:sym typeface="Inter Light"/>
              </a:rPr>
              <a:t>Multi-Disciplinary Engineering Project | Çukurova University</a:t>
            </a:r>
            <a:endParaRPr b="0" sz="1200">
              <a:solidFill>
                <a:srgbClr val="A5F3FC"/>
              </a:solidFill>
              <a:latin typeface="Inter Light"/>
              <a:ea typeface="Inter Light"/>
              <a:cs typeface="Inter Light"/>
              <a:sym typeface="Inter Light"/>
            </a:endParaRPr>
          </a:p>
        </p:txBody>
      </p:sp>
      <p:sp>
        <p:nvSpPr>
          <p:cNvPr id="153" name="Google Shape;153;p20"/>
          <p:cNvSpPr txBox="1"/>
          <p:nvPr/>
        </p:nvSpPr>
        <p:spPr>
          <a:xfrm>
            <a:off x="571500" y="104775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2800">
                <a:solidFill>
                  <a:srgbClr val="FFFFFF"/>
                </a:solidFill>
                <a:latin typeface="Inter ExtraBold"/>
                <a:ea typeface="Inter ExtraBold"/>
                <a:cs typeface="Inter ExtraBold"/>
                <a:sym typeface="Inter ExtraBold"/>
              </a:rPr>
              <a:t>Addressing Scale Mismatch</a:t>
            </a:r>
            <a:endParaRPr b="0" sz="2800">
              <a:solidFill>
                <a:srgbClr val="FFFFFF"/>
              </a:solidFill>
              <a:latin typeface="Inter ExtraBold"/>
              <a:ea typeface="Inter ExtraBold"/>
              <a:cs typeface="Inter ExtraBold"/>
              <a:sym typeface="Inter ExtraBold"/>
            </a:endParaRPr>
          </a:p>
        </p:txBody>
      </p:sp>
      <p:sp>
        <p:nvSpPr>
          <p:cNvPr id="154" name="Google Shape;154;p20"/>
          <p:cNvSpPr/>
          <p:nvPr/>
        </p:nvSpPr>
        <p:spPr>
          <a:xfrm>
            <a:off x="571500" y="1905000"/>
            <a:ext cx="4000500" cy="2667000"/>
          </a:xfrm>
          <a:prstGeom prst="roundRect">
            <a:avLst>
              <a:gd fmla="val 4285"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20"/>
          <p:cNvSpPr txBox="1"/>
          <p:nvPr/>
        </p:nvSpPr>
        <p:spPr>
          <a:xfrm>
            <a:off x="809625" y="2143125"/>
            <a:ext cx="3524400" cy="2190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tr" sz="925">
                <a:solidFill>
                  <a:srgbClr val="22D3EE"/>
                </a:solidFill>
                <a:latin typeface="Inter"/>
                <a:ea typeface="Inter"/>
                <a:cs typeface="Inter"/>
                <a:sym typeface="Inter"/>
              </a:rPr>
              <a:t>MODEL STRATEGY</a:t>
            </a:r>
            <a:endParaRPr b="1" sz="925">
              <a:solidFill>
                <a:srgbClr val="22D3EE"/>
              </a:solidFill>
              <a:latin typeface="Inter"/>
              <a:ea typeface="Inter"/>
              <a:cs typeface="Inter"/>
              <a:sym typeface="Inter"/>
            </a:endParaRPr>
          </a:p>
          <a:p>
            <a:pPr indent="-301625" lvl="0" marL="457200" rtl="0" algn="l">
              <a:spcBef>
                <a:spcPts val="1125"/>
              </a:spcBef>
              <a:spcAft>
                <a:spcPts val="0"/>
              </a:spcAft>
              <a:buClr>
                <a:srgbClr val="E2E8F0"/>
              </a:buClr>
              <a:buSzPts val="1150"/>
              <a:buFont typeface="Inter"/>
              <a:buChar char="●"/>
            </a:pPr>
            <a:r>
              <a:rPr b="0" lang="tr" sz="1150">
                <a:solidFill>
                  <a:srgbClr val="E2E8F0"/>
                </a:solidFill>
                <a:latin typeface="Inter"/>
                <a:ea typeface="Inter"/>
                <a:cs typeface="Inter"/>
                <a:sym typeface="Inter"/>
              </a:rPr>
              <a:t>Global models failed due to the massive </a:t>
            </a:r>
            <a:r>
              <a:rPr b="1" lang="tr" sz="1150">
                <a:solidFill>
                  <a:srgbClr val="22D3EE"/>
                </a:solidFill>
                <a:latin typeface="Inter"/>
                <a:ea typeface="Inter"/>
                <a:cs typeface="Inter"/>
                <a:sym typeface="Inter"/>
              </a:rPr>
              <a:t>100x scale difference</a:t>
            </a:r>
            <a:r>
              <a:rPr b="0" lang="tr" sz="1150">
                <a:solidFill>
                  <a:srgbClr val="E2E8F0"/>
                </a:solidFill>
                <a:latin typeface="Inter"/>
                <a:ea typeface="Inter"/>
                <a:cs typeface="Inter"/>
                <a:sym typeface="Inter"/>
              </a:rPr>
              <a:t> between small nations like Luxembourg and large grids like France.</a:t>
            </a:r>
            <a:endParaRPr b="0" sz="1150">
              <a:solidFill>
                <a:srgbClr val="E2E8F0"/>
              </a:solidFill>
              <a:latin typeface="Inter"/>
              <a:ea typeface="Inter"/>
              <a:cs typeface="Inter"/>
              <a:sym typeface="Inter"/>
            </a:endParaRPr>
          </a:p>
          <a:p>
            <a:pPr indent="-301625" lvl="0" marL="457200" rtl="0" algn="l">
              <a:spcBef>
                <a:spcPts val="900"/>
              </a:spcBef>
              <a:spcAft>
                <a:spcPts val="0"/>
              </a:spcAft>
              <a:buClr>
                <a:srgbClr val="E2E8F0"/>
              </a:buClr>
              <a:buSzPts val="1150"/>
              <a:buFont typeface="Inter"/>
              <a:buChar char="●"/>
            </a:pPr>
            <a:r>
              <a:rPr b="0" lang="tr" sz="1150">
                <a:solidFill>
                  <a:srgbClr val="E2E8F0"/>
                </a:solidFill>
                <a:latin typeface="Inter"/>
                <a:ea typeface="Inter"/>
                <a:cs typeface="Inter"/>
                <a:sym typeface="Inter"/>
              </a:rPr>
              <a:t>Solution: Trained </a:t>
            </a:r>
            <a:r>
              <a:rPr b="1" lang="tr" sz="1150">
                <a:solidFill>
                  <a:srgbClr val="22D3EE"/>
                </a:solidFill>
                <a:latin typeface="Inter"/>
                <a:ea typeface="Inter"/>
                <a:cs typeface="Inter"/>
                <a:sym typeface="Inter"/>
              </a:rPr>
              <a:t>37 independent LightGBM models</a:t>
            </a:r>
            <a:r>
              <a:rPr b="0" lang="tr" sz="1150">
                <a:solidFill>
                  <a:srgbClr val="E2E8F0"/>
                </a:solidFill>
                <a:latin typeface="Inter"/>
                <a:ea typeface="Inter"/>
                <a:cs typeface="Inter"/>
                <a:sym typeface="Inter"/>
              </a:rPr>
              <a:t>.</a:t>
            </a:r>
            <a:endParaRPr b="0" sz="1150">
              <a:solidFill>
                <a:srgbClr val="E2E8F0"/>
              </a:solidFill>
              <a:latin typeface="Inter"/>
              <a:ea typeface="Inter"/>
              <a:cs typeface="Inter"/>
              <a:sym typeface="Inter"/>
            </a:endParaRPr>
          </a:p>
          <a:p>
            <a:pPr indent="-301625" lvl="0" marL="457200" rtl="0" algn="l">
              <a:spcBef>
                <a:spcPts val="900"/>
              </a:spcBef>
              <a:spcAft>
                <a:spcPts val="900"/>
              </a:spcAft>
              <a:buClr>
                <a:srgbClr val="E2E8F0"/>
              </a:buClr>
              <a:buSzPts val="1150"/>
              <a:buFont typeface="Inter"/>
              <a:buChar char="●"/>
            </a:pPr>
            <a:r>
              <a:rPr b="0" lang="tr" sz="1150">
                <a:solidFill>
                  <a:srgbClr val="E2E8F0"/>
                </a:solidFill>
                <a:latin typeface="Inter"/>
                <a:ea typeface="Inter"/>
                <a:cs typeface="Inter"/>
                <a:sym typeface="Inter"/>
              </a:rPr>
              <a:t>Applied a </a:t>
            </a:r>
            <a:r>
              <a:rPr b="1" lang="tr" sz="1150">
                <a:solidFill>
                  <a:srgbClr val="22D3EE"/>
                </a:solidFill>
                <a:latin typeface="Inter"/>
                <a:ea typeface="Inter"/>
                <a:cs typeface="Inter"/>
                <a:sym typeface="Inter"/>
              </a:rPr>
              <a:t>Logarithmic Transformation</a:t>
            </a:r>
            <a:r>
              <a:rPr b="0" lang="tr" sz="1150">
                <a:solidFill>
                  <a:srgbClr val="E2E8F0"/>
                </a:solidFill>
                <a:latin typeface="Inter"/>
                <a:ea typeface="Inter"/>
                <a:cs typeface="Inter"/>
                <a:sym typeface="Inter"/>
              </a:rPr>
              <a:t> to stabilize variance across all scales.</a:t>
            </a:r>
            <a:endParaRPr b="0" sz="1150">
              <a:solidFill>
                <a:srgbClr val="E2E8F0"/>
              </a:solidFill>
              <a:latin typeface="Inter"/>
              <a:ea typeface="Inter"/>
              <a:cs typeface="Inter"/>
              <a:sym typeface="Inter"/>
            </a:endParaRPr>
          </a:p>
        </p:txBody>
      </p:sp>
      <p:pic>
        <p:nvPicPr>
          <p:cNvPr descr="A futuristic digital representation of various sized glowing energy nodes representing different European countries, with a smooth logarithmic curve connecting them to show scale stabilization. High-tech, cinematic blue and cyan aesthetic." id="156" name="Google Shape;156;p20"/>
          <p:cNvPicPr preferRelativeResize="0"/>
          <p:nvPr/>
        </p:nvPicPr>
        <p:blipFill rotWithShape="1">
          <a:blip r:embed="rId5">
            <a:alphaModFix/>
          </a:blip>
          <a:srcRect b="0" l="0" r="0" t="0"/>
          <a:stretch/>
        </p:blipFill>
        <p:spPr>
          <a:xfrm>
            <a:off x="4762500" y="1809750"/>
            <a:ext cx="3810000" cy="2857500"/>
          </a:xfrm>
          <a:prstGeom prst="roundRect">
            <a:avLst>
              <a:gd fmla="val 4000" name="adj"/>
            </a:avLst>
          </a:prstGeom>
          <a:noFill/>
          <a:ln>
            <a:noFill/>
          </a:ln>
        </p:spPr>
      </p:pic>
      <p:pic>
        <p:nvPicPr>
          <p:cNvPr id="157" name="Google Shape;157;p20"/>
          <p:cNvPicPr preferRelativeResize="0"/>
          <p:nvPr/>
        </p:nvPicPr>
        <p:blipFill rotWithShape="1">
          <a:blip r:embed="rId6">
            <a:alphaModFix/>
          </a:blip>
          <a:srcRect b="0" l="0" r="0" t="0"/>
          <a:stretch/>
        </p:blipFill>
        <p:spPr>
          <a:xfrm>
            <a:off x="4757738" y="1804988"/>
            <a:ext cx="3819600" cy="2867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1" name="Shape 161"/>
        <p:cNvGrpSpPr/>
        <p:nvPr/>
      </p:nvGrpSpPr>
      <p:grpSpPr>
        <a:xfrm>
          <a:off x="0" y="0"/>
          <a:ext cx="0" cy="0"/>
          <a:chOff x="0" y="0"/>
          <a:chExt cx="0" cy="0"/>
        </a:xfrm>
      </p:grpSpPr>
      <p:pic>
        <p:nvPicPr>
          <p:cNvPr id="162" name="Google Shape;162;p2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63" name="Google Shape;163;p21"/>
          <p:cNvSpPr/>
          <p:nvPr/>
        </p:nvSpPr>
        <p:spPr>
          <a:xfrm>
            <a:off x="571500" y="571500"/>
            <a:ext cx="381000" cy="38100"/>
          </a:xfrm>
          <a:prstGeom prst="rect">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21"/>
          <p:cNvSpPr txBox="1"/>
          <p:nvPr/>
        </p:nvSpPr>
        <p:spPr>
          <a:xfrm>
            <a:off x="571500" y="71437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1200">
                <a:solidFill>
                  <a:srgbClr val="A5F3FC"/>
                </a:solidFill>
                <a:latin typeface="Inter Light"/>
                <a:ea typeface="Inter Light"/>
                <a:cs typeface="Inter Light"/>
                <a:sym typeface="Inter Light"/>
              </a:rPr>
              <a:t>Multi-Disciplinary Engineering Project | Çukurova University</a:t>
            </a:r>
            <a:endParaRPr b="0" sz="1200">
              <a:solidFill>
                <a:srgbClr val="A5F3FC"/>
              </a:solidFill>
              <a:latin typeface="Inter Light"/>
              <a:ea typeface="Inter Light"/>
              <a:cs typeface="Inter Light"/>
              <a:sym typeface="Inter Light"/>
            </a:endParaRPr>
          </a:p>
        </p:txBody>
      </p:sp>
      <p:sp>
        <p:nvSpPr>
          <p:cNvPr id="165" name="Google Shape;165;p21"/>
          <p:cNvSpPr txBox="1"/>
          <p:nvPr/>
        </p:nvSpPr>
        <p:spPr>
          <a:xfrm>
            <a:off x="571500" y="1047750"/>
            <a:ext cx="800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tr" sz="2800">
                <a:solidFill>
                  <a:srgbClr val="FFFFFF"/>
                </a:solidFill>
                <a:latin typeface="Inter ExtraBold"/>
                <a:ea typeface="Inter ExtraBold"/>
                <a:cs typeface="Inter ExtraBold"/>
                <a:sym typeface="Inter ExtraBold"/>
              </a:rPr>
              <a:t>Model Training &amp; Validation</a:t>
            </a:r>
            <a:endParaRPr b="0" sz="2800">
              <a:solidFill>
                <a:srgbClr val="FFFFFF"/>
              </a:solidFill>
              <a:latin typeface="Inter ExtraBold"/>
              <a:ea typeface="Inter ExtraBold"/>
              <a:cs typeface="Inter ExtraBold"/>
              <a:sym typeface="Inter ExtraBold"/>
            </a:endParaRPr>
          </a:p>
        </p:txBody>
      </p:sp>
      <p:sp>
        <p:nvSpPr>
          <p:cNvPr id="166" name="Google Shape;166;p21"/>
          <p:cNvSpPr/>
          <p:nvPr/>
        </p:nvSpPr>
        <p:spPr>
          <a:xfrm>
            <a:off x="571500" y="1905000"/>
            <a:ext cx="4000500" cy="2667000"/>
          </a:xfrm>
          <a:prstGeom prst="roundRect">
            <a:avLst>
              <a:gd fmla="val 4285"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21"/>
          <p:cNvSpPr txBox="1"/>
          <p:nvPr/>
        </p:nvSpPr>
        <p:spPr>
          <a:xfrm>
            <a:off x="809625" y="2143125"/>
            <a:ext cx="3524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925">
                <a:solidFill>
                  <a:srgbClr val="22D3EE"/>
                </a:solidFill>
                <a:latin typeface="Inter"/>
                <a:ea typeface="Inter"/>
                <a:cs typeface="Inter"/>
                <a:sym typeface="Inter"/>
              </a:rPr>
              <a:t>TRAINING METHODOLOGY</a:t>
            </a:r>
            <a:endParaRPr b="1" sz="925">
              <a:solidFill>
                <a:srgbClr val="22D3EE"/>
              </a:solidFill>
              <a:latin typeface="Inter"/>
              <a:ea typeface="Inter"/>
              <a:cs typeface="Inter"/>
              <a:sym typeface="Inter"/>
            </a:endParaRPr>
          </a:p>
          <a:p>
            <a:pPr indent="-301625" lvl="0" marL="457200" rtl="0" algn="l">
              <a:spcBef>
                <a:spcPts val="1100"/>
              </a:spcBef>
              <a:spcAft>
                <a:spcPts val="0"/>
              </a:spcAft>
              <a:buClr>
                <a:srgbClr val="E2E8F0"/>
              </a:buClr>
              <a:buSzPts val="1150"/>
              <a:buFont typeface="Inter"/>
              <a:buChar char="●"/>
            </a:pPr>
            <a:r>
              <a:rPr b="0" lang="tr" sz="1150">
                <a:solidFill>
                  <a:srgbClr val="E2E8F0"/>
                </a:solidFill>
                <a:latin typeface="Inter"/>
                <a:ea typeface="Inter"/>
                <a:cs typeface="Inter"/>
                <a:sym typeface="Inter"/>
              </a:rPr>
              <a:t>Split data strictly chronologically without random shuffling: </a:t>
            </a:r>
            <a:r>
              <a:rPr b="1" lang="tr" sz="1150">
                <a:solidFill>
                  <a:srgbClr val="22D3EE"/>
                </a:solidFill>
                <a:latin typeface="Inter"/>
                <a:ea typeface="Inter"/>
                <a:cs typeface="Inter"/>
                <a:sym typeface="Inter"/>
              </a:rPr>
              <a:t>70% Train, 15% Validation, 15% Test</a:t>
            </a:r>
            <a:r>
              <a:rPr b="0" lang="tr" sz="1150">
                <a:solidFill>
                  <a:srgbClr val="E2E8F0"/>
                </a:solidFill>
                <a:latin typeface="Inter"/>
                <a:ea typeface="Inter"/>
                <a:cs typeface="Inter"/>
                <a:sym typeface="Inter"/>
              </a:rPr>
              <a:t>.</a:t>
            </a:r>
            <a:endParaRPr b="0" sz="1150">
              <a:solidFill>
                <a:srgbClr val="E2E8F0"/>
              </a:solidFill>
              <a:latin typeface="Inter"/>
              <a:ea typeface="Inter"/>
              <a:cs typeface="Inter"/>
              <a:sym typeface="Inter"/>
            </a:endParaRPr>
          </a:p>
          <a:p>
            <a:pPr indent="-301625" lvl="0" marL="457200" rtl="0" algn="l">
              <a:spcBef>
                <a:spcPts val="900"/>
              </a:spcBef>
              <a:spcAft>
                <a:spcPts val="0"/>
              </a:spcAft>
              <a:buClr>
                <a:srgbClr val="E2E8F0"/>
              </a:buClr>
              <a:buSzPts val="1150"/>
              <a:buFont typeface="Inter"/>
              <a:buChar char="●"/>
            </a:pPr>
            <a:r>
              <a:rPr b="0" lang="tr" sz="1150">
                <a:solidFill>
                  <a:srgbClr val="E2E8F0"/>
                </a:solidFill>
                <a:latin typeface="Inter"/>
                <a:ea typeface="Inter"/>
                <a:cs typeface="Inter"/>
                <a:sym typeface="Inter"/>
              </a:rPr>
              <a:t>Accelerated computation using </a:t>
            </a:r>
            <a:r>
              <a:rPr b="1" lang="tr" sz="1150">
                <a:solidFill>
                  <a:srgbClr val="22D3EE"/>
                </a:solidFill>
                <a:latin typeface="Inter"/>
                <a:ea typeface="Inter"/>
                <a:cs typeface="Inter"/>
                <a:sym typeface="Inter"/>
              </a:rPr>
              <a:t>CUDA GPU-enabled LightGBM</a:t>
            </a:r>
            <a:r>
              <a:rPr b="0" lang="tr" sz="1150">
                <a:solidFill>
                  <a:srgbClr val="E2E8F0"/>
                </a:solidFill>
                <a:latin typeface="Inter"/>
                <a:ea typeface="Inter"/>
                <a:cs typeface="Inter"/>
                <a:sym typeface="Inter"/>
              </a:rPr>
              <a:t>.</a:t>
            </a:r>
            <a:endParaRPr b="0" sz="1150">
              <a:solidFill>
                <a:srgbClr val="E2E8F0"/>
              </a:solidFill>
              <a:latin typeface="Inter"/>
              <a:ea typeface="Inter"/>
              <a:cs typeface="Inter"/>
              <a:sym typeface="Inter"/>
            </a:endParaRPr>
          </a:p>
          <a:p>
            <a:pPr indent="-301625" lvl="0" marL="457200" rtl="0" algn="l">
              <a:spcBef>
                <a:spcPts val="900"/>
              </a:spcBef>
              <a:spcAft>
                <a:spcPts val="900"/>
              </a:spcAft>
              <a:buClr>
                <a:srgbClr val="E2E8F0"/>
              </a:buClr>
              <a:buSzPts val="1150"/>
              <a:buFont typeface="Inter"/>
              <a:buChar char="●"/>
            </a:pPr>
            <a:r>
              <a:rPr b="0" lang="tr" sz="1150">
                <a:solidFill>
                  <a:srgbClr val="E2E8F0"/>
                </a:solidFill>
                <a:latin typeface="Inter"/>
                <a:ea typeface="Inter"/>
                <a:cs typeface="Inter"/>
                <a:sym typeface="Inter"/>
              </a:rPr>
              <a:t>Implemented an </a:t>
            </a:r>
            <a:r>
              <a:rPr b="1" lang="tr" sz="1150">
                <a:solidFill>
                  <a:srgbClr val="22D3EE"/>
                </a:solidFill>
                <a:latin typeface="Inter"/>
                <a:ea typeface="Inter"/>
                <a:cs typeface="Inter"/>
                <a:sym typeface="Inter"/>
              </a:rPr>
              <a:t>early stopping callback of 50 rounds</a:t>
            </a:r>
            <a:r>
              <a:rPr b="0" lang="tr" sz="1150">
                <a:solidFill>
                  <a:srgbClr val="E2E8F0"/>
                </a:solidFill>
                <a:latin typeface="Inter"/>
                <a:ea typeface="Inter"/>
                <a:cs typeface="Inter"/>
                <a:sym typeface="Inter"/>
              </a:rPr>
              <a:t> to prevent overfitting.</a:t>
            </a:r>
            <a:endParaRPr b="0" sz="1150">
              <a:solidFill>
                <a:srgbClr val="E2E8F0"/>
              </a:solidFill>
              <a:latin typeface="Inter"/>
              <a:ea typeface="Inter"/>
              <a:cs typeface="Inter"/>
              <a:sym typeface="Inter"/>
            </a:endParaRPr>
          </a:p>
        </p:txBody>
      </p:sp>
      <p:pic>
        <p:nvPicPr>
          <p:cNvPr descr="A cinematic, high-tech visualization of a neural network training process. Glowing blue and cyan data streams flowing into a powerful central processor or GPU chip. Visual representations of loss curves and accuracy metrics in a futuristic digital environment. Professional dark aesthetic." id="168" name="Google Shape;168;p21"/>
          <p:cNvPicPr preferRelativeResize="0"/>
          <p:nvPr/>
        </p:nvPicPr>
        <p:blipFill rotWithShape="1">
          <a:blip r:embed="rId4">
            <a:alphaModFix/>
          </a:blip>
          <a:srcRect b="0" l="0" r="0" t="0"/>
          <a:stretch/>
        </p:blipFill>
        <p:spPr>
          <a:xfrm>
            <a:off x="4762500" y="1809750"/>
            <a:ext cx="3810000" cy="2857500"/>
          </a:xfrm>
          <a:prstGeom prst="roundRect">
            <a:avLst>
              <a:gd fmla="val 4000" name="adj"/>
            </a:avLst>
          </a:prstGeom>
          <a:noFill/>
          <a:ln>
            <a:noFill/>
          </a:ln>
        </p:spPr>
      </p:pic>
      <p:sp>
        <p:nvSpPr>
          <p:cNvPr id="169" name="Google Shape;169;p21"/>
          <p:cNvSpPr/>
          <p:nvPr/>
        </p:nvSpPr>
        <p:spPr>
          <a:xfrm>
            <a:off x="4762500" y="1809750"/>
            <a:ext cx="3810000" cy="2857500"/>
          </a:xfrm>
          <a:prstGeom prst="roundRect">
            <a:avLst>
              <a:gd fmla="val 4000" name="adj"/>
            </a:avLst>
          </a:prstGeom>
          <a:solidFill>
            <a:srgbClr val="000000">
              <a:alpha val="0"/>
            </a:srgbClr>
          </a:solidFill>
          <a:ln cap="flat" cmpd="sng" w="9525">
            <a:solidFill>
              <a:srgbClr val="22D3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73" name="Shape 173"/>
        <p:cNvGrpSpPr/>
        <p:nvPr/>
      </p:nvGrpSpPr>
      <p:grpSpPr>
        <a:xfrm>
          <a:off x="0" y="0"/>
          <a:ext cx="0" cy="0"/>
          <a:chOff x="0" y="0"/>
          <a:chExt cx="0" cy="0"/>
        </a:xfrm>
      </p:grpSpPr>
      <p:pic>
        <p:nvPicPr>
          <p:cNvPr id="174" name="Google Shape;174;p2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5" name="Google Shape;175;p22"/>
          <p:cNvSpPr/>
          <p:nvPr/>
        </p:nvSpPr>
        <p:spPr>
          <a:xfrm>
            <a:off x="571500" y="571500"/>
            <a:ext cx="381000" cy="38100"/>
          </a:xfrm>
          <a:prstGeom prst="rect">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22"/>
          <p:cNvSpPr txBox="1"/>
          <p:nvPr/>
        </p:nvSpPr>
        <p:spPr>
          <a:xfrm>
            <a:off x="571500" y="71437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1200">
                <a:solidFill>
                  <a:srgbClr val="A5F3FC"/>
                </a:solidFill>
                <a:latin typeface="Inter Light"/>
                <a:ea typeface="Inter Light"/>
                <a:cs typeface="Inter Light"/>
                <a:sym typeface="Inter Light"/>
              </a:rPr>
              <a:t>Multi-Disciplinary Engineering Project | Çukurova University</a:t>
            </a:r>
            <a:endParaRPr b="0" sz="1200">
              <a:solidFill>
                <a:srgbClr val="A5F3FC"/>
              </a:solidFill>
              <a:latin typeface="Inter Light"/>
              <a:ea typeface="Inter Light"/>
              <a:cs typeface="Inter Light"/>
              <a:sym typeface="Inter Light"/>
            </a:endParaRPr>
          </a:p>
        </p:txBody>
      </p:sp>
      <p:sp>
        <p:nvSpPr>
          <p:cNvPr id="177" name="Google Shape;177;p22"/>
          <p:cNvSpPr txBox="1"/>
          <p:nvPr/>
        </p:nvSpPr>
        <p:spPr>
          <a:xfrm>
            <a:off x="571500" y="104775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2800">
                <a:solidFill>
                  <a:srgbClr val="FFFFFF"/>
                </a:solidFill>
                <a:latin typeface="Inter ExtraBold"/>
                <a:ea typeface="Inter ExtraBold"/>
                <a:cs typeface="Inter ExtraBold"/>
                <a:sym typeface="Inter ExtraBold"/>
              </a:rPr>
              <a:t>Model Performance Results</a:t>
            </a:r>
            <a:endParaRPr b="0" sz="2800">
              <a:solidFill>
                <a:srgbClr val="FFFFFF"/>
              </a:solidFill>
              <a:latin typeface="Inter ExtraBold"/>
              <a:ea typeface="Inter ExtraBold"/>
              <a:cs typeface="Inter ExtraBold"/>
              <a:sym typeface="Inter ExtraBold"/>
            </a:endParaRPr>
          </a:p>
        </p:txBody>
      </p:sp>
      <p:sp>
        <p:nvSpPr>
          <p:cNvPr id="178" name="Google Shape;178;p22"/>
          <p:cNvSpPr/>
          <p:nvPr/>
        </p:nvSpPr>
        <p:spPr>
          <a:xfrm>
            <a:off x="571500" y="1905000"/>
            <a:ext cx="4000500" cy="2667000"/>
          </a:xfrm>
          <a:prstGeom prst="roundRect">
            <a:avLst>
              <a:gd fmla="val 4285"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22"/>
          <p:cNvSpPr txBox="1"/>
          <p:nvPr/>
        </p:nvSpPr>
        <p:spPr>
          <a:xfrm>
            <a:off x="809625" y="2143125"/>
            <a:ext cx="3524400" cy="2190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tr" sz="925">
                <a:solidFill>
                  <a:srgbClr val="22D3EE"/>
                </a:solidFill>
                <a:latin typeface="Inter"/>
                <a:ea typeface="Inter"/>
                <a:cs typeface="Inter"/>
                <a:sym typeface="Inter"/>
              </a:rPr>
              <a:t>KEY PERFORMANCE INDICATORS</a:t>
            </a:r>
            <a:endParaRPr b="1" sz="925">
              <a:solidFill>
                <a:srgbClr val="22D3EE"/>
              </a:solidFill>
              <a:latin typeface="Inter"/>
              <a:ea typeface="Inter"/>
              <a:cs typeface="Inter"/>
              <a:sym typeface="Inter"/>
            </a:endParaRPr>
          </a:p>
          <a:p>
            <a:pPr indent="-301625" lvl="0" marL="457200" rtl="0" algn="l">
              <a:spcBef>
                <a:spcPts val="1125"/>
              </a:spcBef>
              <a:spcAft>
                <a:spcPts val="0"/>
              </a:spcAft>
              <a:buClr>
                <a:srgbClr val="E2E8F0"/>
              </a:buClr>
              <a:buSzPts val="1150"/>
              <a:buFont typeface="Inter"/>
              <a:buChar char="●"/>
            </a:pPr>
            <a:r>
              <a:rPr b="0" lang="tr" sz="1150">
                <a:solidFill>
                  <a:srgbClr val="E2E8F0"/>
                </a:solidFill>
                <a:latin typeface="Inter"/>
                <a:ea typeface="Inter"/>
                <a:cs typeface="Inter"/>
                <a:sym typeface="Inter"/>
              </a:rPr>
              <a:t>Reached an outstanding overall average R-squared score of </a:t>
            </a:r>
            <a:r>
              <a:rPr b="1" lang="tr" sz="1150">
                <a:solidFill>
                  <a:srgbClr val="22D3EE"/>
                </a:solidFill>
                <a:latin typeface="Inter"/>
                <a:ea typeface="Inter"/>
                <a:cs typeface="Inter"/>
                <a:sym typeface="Inter"/>
              </a:rPr>
              <a:t>97.19%</a:t>
            </a:r>
            <a:r>
              <a:rPr b="0" lang="tr" sz="1150">
                <a:solidFill>
                  <a:srgbClr val="E2E8F0"/>
                </a:solidFill>
                <a:latin typeface="Inter"/>
                <a:ea typeface="Inter"/>
                <a:cs typeface="Inter"/>
                <a:sym typeface="Inter"/>
              </a:rPr>
              <a:t>.</a:t>
            </a:r>
            <a:endParaRPr b="0" sz="1150">
              <a:solidFill>
                <a:srgbClr val="E2E8F0"/>
              </a:solidFill>
              <a:latin typeface="Inter"/>
              <a:ea typeface="Inter"/>
              <a:cs typeface="Inter"/>
              <a:sym typeface="Inter"/>
            </a:endParaRPr>
          </a:p>
          <a:p>
            <a:pPr indent="-301625" lvl="0" marL="457200" rtl="0" algn="l">
              <a:spcBef>
                <a:spcPts val="900"/>
              </a:spcBef>
              <a:spcAft>
                <a:spcPts val="0"/>
              </a:spcAft>
              <a:buClr>
                <a:srgbClr val="E2E8F0"/>
              </a:buClr>
              <a:buSzPts val="1150"/>
              <a:buFont typeface="Inter"/>
              <a:buChar char="●"/>
            </a:pPr>
            <a:r>
              <a:rPr b="0" lang="tr" sz="1150">
                <a:solidFill>
                  <a:srgbClr val="E2E8F0"/>
                </a:solidFill>
                <a:latin typeface="Inter"/>
                <a:ea typeface="Inter"/>
                <a:cs typeface="Inter"/>
                <a:sym typeface="Inter"/>
              </a:rPr>
              <a:t>Top performing grids: </a:t>
            </a:r>
            <a:r>
              <a:rPr b="1" lang="tr" sz="1150">
                <a:solidFill>
                  <a:srgbClr val="22D3EE"/>
                </a:solidFill>
                <a:latin typeface="Inter"/>
                <a:ea typeface="Inter"/>
                <a:cs typeface="Inter"/>
                <a:sym typeface="Inter"/>
              </a:rPr>
              <a:t>Italy (99.65%)</a:t>
            </a:r>
            <a:r>
              <a:rPr b="0" lang="tr" sz="1150">
                <a:solidFill>
                  <a:srgbClr val="E2E8F0"/>
                </a:solidFill>
                <a:latin typeface="Inter"/>
                <a:ea typeface="Inter"/>
                <a:cs typeface="Inter"/>
                <a:sym typeface="Inter"/>
              </a:rPr>
              <a:t>, </a:t>
            </a:r>
            <a:r>
              <a:rPr b="1" lang="tr" sz="1150">
                <a:solidFill>
                  <a:srgbClr val="22D3EE"/>
                </a:solidFill>
                <a:latin typeface="Inter"/>
                <a:ea typeface="Inter"/>
                <a:cs typeface="Inter"/>
                <a:sym typeface="Inter"/>
              </a:rPr>
              <a:t>Luxembourg (99.59%)</a:t>
            </a:r>
            <a:r>
              <a:rPr b="0" lang="tr" sz="1150">
                <a:solidFill>
                  <a:srgbClr val="E2E8F0"/>
                </a:solidFill>
                <a:latin typeface="Inter"/>
                <a:ea typeface="Inter"/>
                <a:cs typeface="Inter"/>
                <a:sym typeface="Inter"/>
              </a:rPr>
              <a:t>, </a:t>
            </a:r>
            <a:r>
              <a:rPr b="1" lang="tr" sz="1150">
                <a:solidFill>
                  <a:srgbClr val="22D3EE"/>
                </a:solidFill>
                <a:latin typeface="Inter"/>
                <a:ea typeface="Inter"/>
                <a:cs typeface="Inter"/>
                <a:sym typeface="Inter"/>
              </a:rPr>
              <a:t>Sweden (99.59%)</a:t>
            </a:r>
            <a:r>
              <a:rPr b="0" lang="tr" sz="1150">
                <a:solidFill>
                  <a:srgbClr val="E2E8F0"/>
                </a:solidFill>
                <a:latin typeface="Inter"/>
                <a:ea typeface="Inter"/>
                <a:cs typeface="Inter"/>
                <a:sym typeface="Inter"/>
              </a:rPr>
              <a:t>.</a:t>
            </a:r>
            <a:endParaRPr b="0" sz="1150">
              <a:solidFill>
                <a:srgbClr val="E2E8F0"/>
              </a:solidFill>
              <a:latin typeface="Inter"/>
              <a:ea typeface="Inter"/>
              <a:cs typeface="Inter"/>
              <a:sym typeface="Inter"/>
            </a:endParaRPr>
          </a:p>
          <a:p>
            <a:pPr indent="-301625" lvl="0" marL="457200" rtl="0" algn="l">
              <a:spcBef>
                <a:spcPts val="900"/>
              </a:spcBef>
              <a:spcAft>
                <a:spcPts val="900"/>
              </a:spcAft>
              <a:buClr>
                <a:srgbClr val="E2E8F0"/>
              </a:buClr>
              <a:buSzPts val="1150"/>
              <a:buFont typeface="Inter"/>
              <a:buChar char="●"/>
            </a:pPr>
            <a:r>
              <a:rPr b="0" lang="tr" sz="1150">
                <a:solidFill>
                  <a:srgbClr val="E2E8F0"/>
                </a:solidFill>
                <a:latin typeface="Inter"/>
                <a:ea typeface="Inter"/>
                <a:cs typeface="Inter"/>
                <a:sym typeface="Inter"/>
              </a:rPr>
              <a:t>Challenging regions: </a:t>
            </a:r>
            <a:r>
              <a:rPr b="1" lang="tr" sz="1150">
                <a:solidFill>
                  <a:srgbClr val="22D3EE"/>
                </a:solidFill>
                <a:latin typeface="Inter"/>
                <a:ea typeface="Inter"/>
                <a:cs typeface="Inter"/>
                <a:sym typeface="Inter"/>
              </a:rPr>
              <a:t>Bosnia (77.39%)</a:t>
            </a:r>
            <a:r>
              <a:rPr b="0" lang="tr" sz="1150">
                <a:solidFill>
                  <a:srgbClr val="E2E8F0"/>
                </a:solidFill>
                <a:latin typeface="Inter"/>
                <a:ea typeface="Inter"/>
                <a:cs typeface="Inter"/>
                <a:sym typeface="Inter"/>
              </a:rPr>
              <a:t> and </a:t>
            </a:r>
            <a:r>
              <a:rPr b="1" lang="tr" sz="1150">
                <a:solidFill>
                  <a:srgbClr val="22D3EE"/>
                </a:solidFill>
                <a:latin typeface="Inter"/>
                <a:ea typeface="Inter"/>
                <a:cs typeface="Inter"/>
                <a:sym typeface="Inter"/>
              </a:rPr>
              <a:t>UK (83.74%)</a:t>
            </a:r>
            <a:r>
              <a:rPr b="0" lang="tr" sz="1150">
                <a:solidFill>
                  <a:srgbClr val="E2E8F0"/>
                </a:solidFill>
                <a:latin typeface="Inter"/>
                <a:ea typeface="Inter"/>
                <a:cs typeface="Inter"/>
                <a:sym typeface="Inter"/>
              </a:rPr>
              <a:t> due to severe regional volatility.</a:t>
            </a:r>
            <a:endParaRPr b="0" sz="1150">
              <a:solidFill>
                <a:srgbClr val="E2E8F0"/>
              </a:solidFill>
              <a:latin typeface="Inter"/>
              <a:ea typeface="Inter"/>
              <a:cs typeface="Inter"/>
              <a:sym typeface="Inter"/>
            </a:endParaRPr>
          </a:p>
        </p:txBody>
      </p:sp>
      <p:grpSp>
        <p:nvGrpSpPr>
          <p:cNvPr id="180" name="Google Shape;180;p22"/>
          <p:cNvGrpSpPr/>
          <p:nvPr/>
        </p:nvGrpSpPr>
        <p:grpSpPr>
          <a:xfrm>
            <a:off x="4762500" y="1905000"/>
            <a:ext cx="3810000" cy="2667000"/>
            <a:chOff x="0" y="0"/>
            <a:chExt cx="3810000" cy="2667000"/>
          </a:xfrm>
        </p:grpSpPr>
        <p:sp>
          <p:nvSpPr>
            <p:cNvPr id="181" name="Google Shape;181;p22"/>
            <p:cNvSpPr/>
            <p:nvPr/>
          </p:nvSpPr>
          <p:spPr>
            <a:xfrm>
              <a:off x="0" y="0"/>
              <a:ext cx="3810000" cy="2667000"/>
            </a:xfrm>
            <a:prstGeom prst="roundRect">
              <a:avLst>
                <a:gd fmla="val 4285"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22"/>
            <p:cNvSpPr txBox="1"/>
            <p:nvPr/>
          </p:nvSpPr>
          <p:spPr>
            <a:xfrm>
              <a:off x="190500" y="190500"/>
              <a:ext cx="3429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tr" sz="925">
                  <a:solidFill>
                    <a:srgbClr val="22D3EE"/>
                  </a:solidFill>
                  <a:latin typeface="Inter"/>
                  <a:ea typeface="Inter"/>
                  <a:cs typeface="Inter"/>
                  <a:sym typeface="Inter"/>
                </a:rPr>
                <a:t>TOP PERFORMING GRIDS (R² %)</a:t>
              </a:r>
              <a:endParaRPr b="1" sz="925">
                <a:solidFill>
                  <a:srgbClr val="22D3EE"/>
                </a:solidFill>
                <a:latin typeface="Inter"/>
                <a:ea typeface="Inter"/>
                <a:cs typeface="Inter"/>
                <a:sym typeface="Inter"/>
              </a:endParaRPr>
            </a:p>
          </p:txBody>
        </p:sp>
        <p:grpSp>
          <p:nvGrpSpPr>
            <p:cNvPr id="183" name="Google Shape;183;p22"/>
            <p:cNvGrpSpPr/>
            <p:nvPr/>
          </p:nvGrpSpPr>
          <p:grpSpPr>
            <a:xfrm>
              <a:off x="190500" y="571500"/>
              <a:ext cx="3429075" cy="381000"/>
              <a:chOff x="0" y="0"/>
              <a:chExt cx="3429075" cy="381000"/>
            </a:xfrm>
          </p:grpSpPr>
          <p:sp>
            <p:nvSpPr>
              <p:cNvPr id="184" name="Google Shape;184;p22"/>
              <p:cNvSpPr/>
              <p:nvPr/>
            </p:nvSpPr>
            <p:spPr>
              <a:xfrm>
                <a:off x="0" y="0"/>
                <a:ext cx="3429000" cy="381000"/>
              </a:xfrm>
              <a:prstGeom prst="roundRect">
                <a:avLst>
                  <a:gd fmla="val 10000" name="adj"/>
                </a:avLst>
              </a:prstGeom>
              <a:solidFill>
                <a:srgbClr val="0F172A">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22"/>
              <p:cNvSpPr txBox="1"/>
              <p:nvPr/>
            </p:nvSpPr>
            <p:spPr>
              <a:xfrm>
                <a:off x="95250" y="95250"/>
                <a:ext cx="76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900">
                    <a:solidFill>
                      <a:srgbClr val="94A3B8"/>
                    </a:solidFill>
                    <a:latin typeface="Inter SemiBold"/>
                    <a:ea typeface="Inter SemiBold"/>
                    <a:cs typeface="Inter SemiBold"/>
                    <a:sym typeface="Inter SemiBold"/>
                  </a:rPr>
                  <a:t>Italy</a:t>
                </a:r>
                <a:endParaRPr b="0" sz="900">
                  <a:solidFill>
                    <a:srgbClr val="94A3B8"/>
                  </a:solidFill>
                  <a:latin typeface="Inter SemiBold"/>
                  <a:ea typeface="Inter SemiBold"/>
                  <a:cs typeface="Inter SemiBold"/>
                  <a:sym typeface="Inter SemiBold"/>
                </a:endParaRPr>
              </a:p>
            </p:txBody>
          </p:sp>
          <p:sp>
            <p:nvSpPr>
              <p:cNvPr id="186" name="Google Shape;186;p22"/>
              <p:cNvSpPr/>
              <p:nvPr/>
            </p:nvSpPr>
            <p:spPr>
              <a:xfrm>
                <a:off x="857250" y="142875"/>
                <a:ext cx="2095500" cy="95400"/>
              </a:xfrm>
              <a:prstGeom prst="roundRect">
                <a:avLst>
                  <a:gd fmla="val 50000" name="adj"/>
                </a:avLst>
              </a:prstGeom>
              <a:solidFill>
                <a:srgbClr val="33415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87" name="Google Shape;187;p22"/>
              <p:cNvPicPr preferRelativeResize="0"/>
              <p:nvPr/>
            </p:nvPicPr>
            <p:blipFill rotWithShape="1">
              <a:blip r:embed="rId4">
                <a:alphaModFix/>
              </a:blip>
              <a:srcRect b="0" l="0" r="0" t="0"/>
              <a:stretch/>
            </p:blipFill>
            <p:spPr>
              <a:xfrm>
                <a:off x="857250" y="142875"/>
                <a:ext cx="2090700" cy="95400"/>
              </a:xfrm>
              <a:prstGeom prst="rect">
                <a:avLst/>
              </a:prstGeom>
              <a:noFill/>
              <a:ln>
                <a:noFill/>
              </a:ln>
            </p:spPr>
          </p:pic>
          <p:sp>
            <p:nvSpPr>
              <p:cNvPr id="188" name="Google Shape;188;p22"/>
              <p:cNvSpPr txBox="1"/>
              <p:nvPr/>
            </p:nvSpPr>
            <p:spPr>
              <a:xfrm>
                <a:off x="3000375" y="95250"/>
                <a:ext cx="4287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tr" sz="1000">
                    <a:solidFill>
                      <a:srgbClr val="22D3EE"/>
                    </a:solidFill>
                    <a:latin typeface="Inter"/>
                    <a:ea typeface="Inter"/>
                    <a:cs typeface="Inter"/>
                    <a:sym typeface="Inter"/>
                  </a:rPr>
                  <a:t>99.65</a:t>
                </a:r>
                <a:endParaRPr b="1" sz="1000">
                  <a:solidFill>
                    <a:srgbClr val="22D3EE"/>
                  </a:solidFill>
                  <a:latin typeface="Inter"/>
                  <a:ea typeface="Inter"/>
                  <a:cs typeface="Inter"/>
                  <a:sym typeface="Inter"/>
                </a:endParaRPr>
              </a:p>
            </p:txBody>
          </p:sp>
        </p:grpSp>
        <p:grpSp>
          <p:nvGrpSpPr>
            <p:cNvPr id="189" name="Google Shape;189;p22"/>
            <p:cNvGrpSpPr/>
            <p:nvPr/>
          </p:nvGrpSpPr>
          <p:grpSpPr>
            <a:xfrm>
              <a:off x="190500" y="1047750"/>
              <a:ext cx="3429075" cy="381000"/>
              <a:chOff x="0" y="0"/>
              <a:chExt cx="3429075" cy="381000"/>
            </a:xfrm>
          </p:grpSpPr>
          <p:sp>
            <p:nvSpPr>
              <p:cNvPr id="190" name="Google Shape;190;p22"/>
              <p:cNvSpPr/>
              <p:nvPr/>
            </p:nvSpPr>
            <p:spPr>
              <a:xfrm>
                <a:off x="0" y="0"/>
                <a:ext cx="3429000" cy="381000"/>
              </a:xfrm>
              <a:prstGeom prst="roundRect">
                <a:avLst>
                  <a:gd fmla="val 10000" name="adj"/>
                </a:avLst>
              </a:prstGeom>
              <a:solidFill>
                <a:srgbClr val="0F172A">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22"/>
              <p:cNvSpPr txBox="1"/>
              <p:nvPr/>
            </p:nvSpPr>
            <p:spPr>
              <a:xfrm>
                <a:off x="95250" y="95250"/>
                <a:ext cx="76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900">
                    <a:solidFill>
                      <a:srgbClr val="94A3B8"/>
                    </a:solidFill>
                    <a:latin typeface="Inter SemiBold"/>
                    <a:ea typeface="Inter SemiBold"/>
                    <a:cs typeface="Inter SemiBold"/>
                    <a:sym typeface="Inter SemiBold"/>
                  </a:rPr>
                  <a:t>Luxembourg</a:t>
                </a:r>
                <a:endParaRPr b="0" sz="900">
                  <a:solidFill>
                    <a:srgbClr val="94A3B8"/>
                  </a:solidFill>
                  <a:latin typeface="Inter SemiBold"/>
                  <a:ea typeface="Inter SemiBold"/>
                  <a:cs typeface="Inter SemiBold"/>
                  <a:sym typeface="Inter SemiBold"/>
                </a:endParaRPr>
              </a:p>
            </p:txBody>
          </p:sp>
          <p:sp>
            <p:nvSpPr>
              <p:cNvPr id="192" name="Google Shape;192;p22"/>
              <p:cNvSpPr/>
              <p:nvPr/>
            </p:nvSpPr>
            <p:spPr>
              <a:xfrm>
                <a:off x="857250" y="142875"/>
                <a:ext cx="2095500" cy="95400"/>
              </a:xfrm>
              <a:prstGeom prst="roundRect">
                <a:avLst>
                  <a:gd fmla="val 50000" name="adj"/>
                </a:avLst>
              </a:prstGeom>
              <a:solidFill>
                <a:srgbClr val="33415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3" name="Google Shape;193;p22"/>
              <p:cNvPicPr preferRelativeResize="0"/>
              <p:nvPr/>
            </p:nvPicPr>
            <p:blipFill rotWithShape="1">
              <a:blip r:embed="rId5">
                <a:alphaModFix/>
              </a:blip>
              <a:srcRect b="0" l="0" r="0" t="0"/>
              <a:stretch/>
            </p:blipFill>
            <p:spPr>
              <a:xfrm>
                <a:off x="857250" y="142875"/>
                <a:ext cx="2090700" cy="95400"/>
              </a:xfrm>
              <a:prstGeom prst="rect">
                <a:avLst/>
              </a:prstGeom>
              <a:noFill/>
              <a:ln>
                <a:noFill/>
              </a:ln>
            </p:spPr>
          </p:pic>
          <p:sp>
            <p:nvSpPr>
              <p:cNvPr id="194" name="Google Shape;194;p22"/>
              <p:cNvSpPr txBox="1"/>
              <p:nvPr/>
            </p:nvSpPr>
            <p:spPr>
              <a:xfrm>
                <a:off x="3000375" y="95250"/>
                <a:ext cx="4287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tr" sz="1000">
                    <a:solidFill>
                      <a:srgbClr val="22D3EE"/>
                    </a:solidFill>
                    <a:latin typeface="Inter"/>
                    <a:ea typeface="Inter"/>
                    <a:cs typeface="Inter"/>
                    <a:sym typeface="Inter"/>
                  </a:rPr>
                  <a:t>99.59</a:t>
                </a:r>
                <a:endParaRPr b="1" sz="1000">
                  <a:solidFill>
                    <a:srgbClr val="22D3EE"/>
                  </a:solidFill>
                  <a:latin typeface="Inter"/>
                  <a:ea typeface="Inter"/>
                  <a:cs typeface="Inter"/>
                  <a:sym typeface="Inter"/>
                </a:endParaRPr>
              </a:p>
            </p:txBody>
          </p:sp>
        </p:grpSp>
        <p:grpSp>
          <p:nvGrpSpPr>
            <p:cNvPr id="195" name="Google Shape;195;p22"/>
            <p:cNvGrpSpPr/>
            <p:nvPr/>
          </p:nvGrpSpPr>
          <p:grpSpPr>
            <a:xfrm>
              <a:off x="190500" y="1524000"/>
              <a:ext cx="3429075" cy="381000"/>
              <a:chOff x="0" y="0"/>
              <a:chExt cx="3429075" cy="381000"/>
            </a:xfrm>
          </p:grpSpPr>
          <p:sp>
            <p:nvSpPr>
              <p:cNvPr id="196" name="Google Shape;196;p22"/>
              <p:cNvSpPr/>
              <p:nvPr/>
            </p:nvSpPr>
            <p:spPr>
              <a:xfrm>
                <a:off x="0" y="0"/>
                <a:ext cx="3429000" cy="381000"/>
              </a:xfrm>
              <a:prstGeom prst="roundRect">
                <a:avLst>
                  <a:gd fmla="val 10000" name="adj"/>
                </a:avLst>
              </a:prstGeom>
              <a:solidFill>
                <a:srgbClr val="0F172A">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22"/>
              <p:cNvSpPr txBox="1"/>
              <p:nvPr/>
            </p:nvSpPr>
            <p:spPr>
              <a:xfrm>
                <a:off x="95250" y="95250"/>
                <a:ext cx="76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900">
                    <a:solidFill>
                      <a:srgbClr val="94A3B8"/>
                    </a:solidFill>
                    <a:latin typeface="Inter SemiBold"/>
                    <a:ea typeface="Inter SemiBold"/>
                    <a:cs typeface="Inter SemiBold"/>
                    <a:sym typeface="Inter SemiBold"/>
                  </a:rPr>
                  <a:t>Sweden</a:t>
                </a:r>
                <a:endParaRPr b="0" sz="900">
                  <a:solidFill>
                    <a:srgbClr val="94A3B8"/>
                  </a:solidFill>
                  <a:latin typeface="Inter SemiBold"/>
                  <a:ea typeface="Inter SemiBold"/>
                  <a:cs typeface="Inter SemiBold"/>
                  <a:sym typeface="Inter SemiBold"/>
                </a:endParaRPr>
              </a:p>
            </p:txBody>
          </p:sp>
          <p:sp>
            <p:nvSpPr>
              <p:cNvPr id="198" name="Google Shape;198;p22"/>
              <p:cNvSpPr/>
              <p:nvPr/>
            </p:nvSpPr>
            <p:spPr>
              <a:xfrm>
                <a:off x="857250" y="142875"/>
                <a:ext cx="2095500" cy="95400"/>
              </a:xfrm>
              <a:prstGeom prst="roundRect">
                <a:avLst>
                  <a:gd fmla="val 50000" name="adj"/>
                </a:avLst>
              </a:prstGeom>
              <a:solidFill>
                <a:srgbClr val="33415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9" name="Google Shape;199;p22"/>
              <p:cNvPicPr preferRelativeResize="0"/>
              <p:nvPr/>
            </p:nvPicPr>
            <p:blipFill rotWithShape="1">
              <a:blip r:embed="rId5">
                <a:alphaModFix/>
              </a:blip>
              <a:srcRect b="0" l="0" r="0" t="0"/>
              <a:stretch/>
            </p:blipFill>
            <p:spPr>
              <a:xfrm>
                <a:off x="857250" y="142875"/>
                <a:ext cx="2090700" cy="95400"/>
              </a:xfrm>
              <a:prstGeom prst="rect">
                <a:avLst/>
              </a:prstGeom>
              <a:noFill/>
              <a:ln>
                <a:noFill/>
              </a:ln>
            </p:spPr>
          </p:pic>
          <p:sp>
            <p:nvSpPr>
              <p:cNvPr id="200" name="Google Shape;200;p22"/>
              <p:cNvSpPr txBox="1"/>
              <p:nvPr/>
            </p:nvSpPr>
            <p:spPr>
              <a:xfrm>
                <a:off x="3000375" y="95250"/>
                <a:ext cx="4287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tr" sz="1000">
                    <a:solidFill>
                      <a:srgbClr val="22D3EE"/>
                    </a:solidFill>
                    <a:latin typeface="Inter"/>
                    <a:ea typeface="Inter"/>
                    <a:cs typeface="Inter"/>
                    <a:sym typeface="Inter"/>
                  </a:rPr>
                  <a:t>99.59</a:t>
                </a:r>
                <a:endParaRPr b="1" sz="1000">
                  <a:solidFill>
                    <a:srgbClr val="22D3EE"/>
                  </a:solidFill>
                  <a:latin typeface="Inter"/>
                  <a:ea typeface="Inter"/>
                  <a:cs typeface="Inter"/>
                  <a:sym typeface="Inter"/>
                </a:endParaRPr>
              </a:p>
            </p:txBody>
          </p:sp>
        </p:grpSp>
        <p:grpSp>
          <p:nvGrpSpPr>
            <p:cNvPr id="201" name="Google Shape;201;p22"/>
            <p:cNvGrpSpPr/>
            <p:nvPr/>
          </p:nvGrpSpPr>
          <p:grpSpPr>
            <a:xfrm>
              <a:off x="190500" y="2095500"/>
              <a:ext cx="3429075" cy="381000"/>
              <a:chOff x="0" y="0"/>
              <a:chExt cx="3429075" cy="381000"/>
            </a:xfrm>
          </p:grpSpPr>
          <p:sp>
            <p:nvSpPr>
              <p:cNvPr id="202" name="Google Shape;202;p22"/>
              <p:cNvSpPr/>
              <p:nvPr/>
            </p:nvSpPr>
            <p:spPr>
              <a:xfrm>
                <a:off x="0" y="0"/>
                <a:ext cx="3429000" cy="381000"/>
              </a:xfrm>
              <a:prstGeom prst="roundRect">
                <a:avLst>
                  <a:gd fmla="val 10000" name="adj"/>
                </a:avLst>
              </a:prstGeom>
              <a:solidFill>
                <a:srgbClr val="EF4444">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22"/>
              <p:cNvSpPr txBox="1"/>
              <p:nvPr/>
            </p:nvSpPr>
            <p:spPr>
              <a:xfrm>
                <a:off x="95250" y="95250"/>
                <a:ext cx="1143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900">
                    <a:solidFill>
                      <a:srgbClr val="F87171"/>
                    </a:solidFill>
                    <a:latin typeface="Inter SemiBold"/>
                    <a:ea typeface="Inter SemiBold"/>
                    <a:cs typeface="Inter SemiBold"/>
                    <a:sym typeface="Inter SemiBold"/>
                  </a:rPr>
                  <a:t>Avg Performance</a:t>
                </a:r>
                <a:endParaRPr b="0" sz="900">
                  <a:solidFill>
                    <a:srgbClr val="F87171"/>
                  </a:solidFill>
                  <a:latin typeface="Inter SemiBold"/>
                  <a:ea typeface="Inter SemiBold"/>
                  <a:cs typeface="Inter SemiBold"/>
                  <a:sym typeface="Inter SemiBold"/>
                </a:endParaRPr>
              </a:p>
            </p:txBody>
          </p:sp>
          <p:sp>
            <p:nvSpPr>
              <p:cNvPr id="204" name="Google Shape;204;p22"/>
              <p:cNvSpPr/>
              <p:nvPr/>
            </p:nvSpPr>
            <p:spPr>
              <a:xfrm>
                <a:off x="1333500" y="142875"/>
                <a:ext cx="1619100" cy="95400"/>
              </a:xfrm>
              <a:prstGeom prst="roundRect">
                <a:avLst>
                  <a:gd fmla="val 50000" name="adj"/>
                </a:avLst>
              </a:prstGeom>
              <a:solidFill>
                <a:srgbClr val="33415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22"/>
              <p:cNvSpPr/>
              <p:nvPr/>
            </p:nvSpPr>
            <p:spPr>
              <a:xfrm>
                <a:off x="1333500" y="142875"/>
                <a:ext cx="1573500" cy="954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22"/>
              <p:cNvSpPr txBox="1"/>
              <p:nvPr/>
            </p:nvSpPr>
            <p:spPr>
              <a:xfrm>
                <a:off x="3000375" y="95250"/>
                <a:ext cx="4287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tr" sz="1000">
                    <a:solidFill>
                      <a:srgbClr val="F87171"/>
                    </a:solidFill>
                    <a:latin typeface="Inter"/>
                    <a:ea typeface="Inter"/>
                    <a:cs typeface="Inter"/>
                    <a:sym typeface="Inter"/>
                  </a:rPr>
                  <a:t>97.19</a:t>
                </a:r>
                <a:endParaRPr b="1" sz="1000">
                  <a:solidFill>
                    <a:srgbClr val="F87171"/>
                  </a:solidFill>
                  <a:latin typeface="Inter"/>
                  <a:ea typeface="Inter"/>
                  <a:cs typeface="Inter"/>
                  <a:sym typeface="Inter"/>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3"/>
          <p:cNvSpPr/>
          <p:nvPr/>
        </p:nvSpPr>
        <p:spPr>
          <a:xfrm>
            <a:off x="0" y="0"/>
            <a:ext cx="9144000" cy="5143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2" name="Google Shape;212;p2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13" name="Google Shape;213;p23"/>
          <p:cNvSpPr/>
          <p:nvPr/>
        </p:nvSpPr>
        <p:spPr>
          <a:xfrm>
            <a:off x="571500" y="571500"/>
            <a:ext cx="381000" cy="38100"/>
          </a:xfrm>
          <a:prstGeom prst="rect">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23"/>
          <p:cNvSpPr txBox="1"/>
          <p:nvPr/>
        </p:nvSpPr>
        <p:spPr>
          <a:xfrm>
            <a:off x="571500" y="71437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1200">
                <a:solidFill>
                  <a:srgbClr val="A5F3FC"/>
                </a:solidFill>
                <a:latin typeface="Inter Light"/>
                <a:ea typeface="Inter Light"/>
                <a:cs typeface="Inter Light"/>
                <a:sym typeface="Inter Light"/>
              </a:rPr>
              <a:t>Multi-Disciplinary Engineering Project | Çukurova University</a:t>
            </a:r>
            <a:endParaRPr b="0" sz="1200">
              <a:solidFill>
                <a:srgbClr val="A5F3FC"/>
              </a:solidFill>
              <a:latin typeface="Inter Light"/>
              <a:ea typeface="Inter Light"/>
              <a:cs typeface="Inter Light"/>
              <a:sym typeface="Inter Light"/>
            </a:endParaRPr>
          </a:p>
        </p:txBody>
      </p:sp>
      <p:sp>
        <p:nvSpPr>
          <p:cNvPr id="215" name="Google Shape;215;p23"/>
          <p:cNvSpPr txBox="1"/>
          <p:nvPr/>
        </p:nvSpPr>
        <p:spPr>
          <a:xfrm>
            <a:off x="571500" y="104775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2800">
                <a:solidFill>
                  <a:srgbClr val="FFFFFF"/>
                </a:solidFill>
                <a:latin typeface="Inter ExtraBold"/>
                <a:ea typeface="Inter ExtraBold"/>
                <a:cs typeface="Inter ExtraBold"/>
                <a:sym typeface="Inter ExtraBold"/>
              </a:rPr>
              <a:t>Case Study: Germany Grid (DE)</a:t>
            </a:r>
            <a:endParaRPr b="0" sz="2800">
              <a:solidFill>
                <a:srgbClr val="FFFFFF"/>
              </a:solidFill>
              <a:latin typeface="Inter ExtraBold"/>
              <a:ea typeface="Inter ExtraBold"/>
              <a:cs typeface="Inter ExtraBold"/>
              <a:sym typeface="Inter ExtraBold"/>
            </a:endParaRPr>
          </a:p>
        </p:txBody>
      </p:sp>
      <p:sp>
        <p:nvSpPr>
          <p:cNvPr id="216" name="Google Shape;216;p23"/>
          <p:cNvSpPr/>
          <p:nvPr/>
        </p:nvSpPr>
        <p:spPr>
          <a:xfrm>
            <a:off x="571500" y="1905000"/>
            <a:ext cx="4000500" cy="2667000"/>
          </a:xfrm>
          <a:prstGeom prst="roundRect">
            <a:avLst>
              <a:gd fmla="val 4285"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23"/>
          <p:cNvSpPr txBox="1"/>
          <p:nvPr/>
        </p:nvSpPr>
        <p:spPr>
          <a:xfrm>
            <a:off x="809625" y="2143125"/>
            <a:ext cx="3524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925">
                <a:solidFill>
                  <a:srgbClr val="22D3EE"/>
                </a:solidFill>
                <a:latin typeface="Inter"/>
                <a:ea typeface="Inter"/>
                <a:cs typeface="Inter"/>
                <a:sym typeface="Inter"/>
              </a:rPr>
              <a:t>PERFORMANCE METRICS &amp; DRIVERS</a:t>
            </a:r>
            <a:endParaRPr b="1" sz="925">
              <a:solidFill>
                <a:srgbClr val="22D3EE"/>
              </a:solidFill>
              <a:latin typeface="Inter"/>
              <a:ea typeface="Inter"/>
              <a:cs typeface="Inter"/>
              <a:sym typeface="Inter"/>
            </a:endParaRPr>
          </a:p>
          <a:p>
            <a:pPr indent="-317500" lvl="0" marL="457200" rtl="0" algn="l">
              <a:spcBef>
                <a:spcPts val="1100"/>
              </a:spcBef>
              <a:spcAft>
                <a:spcPts val="0"/>
              </a:spcAft>
              <a:buSzPts val="1400"/>
              <a:buChar char="●"/>
            </a:pPr>
            <a:r>
              <a:rPr b="0" lang="tr" sz="1150">
                <a:solidFill>
                  <a:srgbClr val="E2E8F0"/>
                </a:solidFill>
                <a:latin typeface="Inter"/>
                <a:ea typeface="Inter"/>
                <a:cs typeface="Inter"/>
                <a:sym typeface="Inter"/>
              </a:rPr>
              <a:t>Achieved </a:t>
            </a:r>
            <a:r>
              <a:rPr b="1" lang="tr" sz="1150">
                <a:solidFill>
                  <a:srgbClr val="22D3EE"/>
                </a:solidFill>
                <a:latin typeface="Inter"/>
                <a:ea typeface="Inter"/>
                <a:cs typeface="Inter"/>
                <a:sym typeface="Inter"/>
              </a:rPr>
              <a:t>99.38% accuracy</a:t>
            </a:r>
            <a:r>
              <a:rPr b="0" lang="tr" sz="1150">
                <a:solidFill>
                  <a:srgbClr val="E2E8F0"/>
                </a:solidFill>
                <a:latin typeface="Inter"/>
                <a:ea typeface="Inter"/>
                <a:cs typeface="Inter"/>
                <a:sym typeface="Inter"/>
              </a:rPr>
              <a:t> with only 509 MW mean absolute error on a 60,000 MW grid.</a:t>
            </a:r>
            <a:endParaRPr b="0" sz="1150">
              <a:solidFill>
                <a:srgbClr val="E2E8F0"/>
              </a:solidFill>
              <a:latin typeface="Inter"/>
              <a:ea typeface="Inter"/>
              <a:cs typeface="Inter"/>
              <a:sym typeface="Inter"/>
            </a:endParaRPr>
          </a:p>
          <a:p>
            <a:pPr indent="-317500" lvl="0" marL="457200" rtl="0" algn="l">
              <a:spcBef>
                <a:spcPts val="1200"/>
              </a:spcBef>
              <a:spcAft>
                <a:spcPts val="0"/>
              </a:spcAft>
              <a:buSzPts val="1400"/>
              <a:buChar char="●"/>
            </a:pPr>
            <a:r>
              <a:rPr b="1" lang="tr" sz="1150">
                <a:solidFill>
                  <a:srgbClr val="22D3EE"/>
                </a:solidFill>
                <a:latin typeface="Inter"/>
                <a:ea typeface="Inter"/>
                <a:cs typeface="Inter"/>
                <a:sym typeface="Inter"/>
              </a:rPr>
              <a:t>Feature Importance</a:t>
            </a:r>
            <a:r>
              <a:rPr b="0" lang="tr" sz="1150">
                <a:solidFill>
                  <a:srgbClr val="E2E8F0"/>
                </a:solidFill>
                <a:latin typeface="Inter"/>
                <a:ea typeface="Inter"/>
                <a:cs typeface="Inter"/>
                <a:sym typeface="Inter"/>
              </a:rPr>
              <a:t> shows the immediate 1-hour lag, the 24-hour moving average, and the 24-hour lag are the absolute primary drivers for prediction.</a:t>
            </a:r>
            <a:endParaRPr b="0" sz="1150">
              <a:solidFill>
                <a:srgbClr val="E2E8F0"/>
              </a:solidFill>
              <a:latin typeface="Inter"/>
              <a:ea typeface="Inter"/>
              <a:cs typeface="Inter"/>
              <a:sym typeface="Inter"/>
            </a:endParaRPr>
          </a:p>
        </p:txBody>
      </p:sp>
      <p:pic>
        <p:nvPicPr>
          <p:cNvPr descr="A cinematic, high-tech visualization of Germany's power grid. A glowing 3D map of Germany with pulsing neon blue lines and data nodes representing major electricity transmission hubs. Superimposed are clean, glowing bar charts showing feature importance. Professional dark blue aesthetic." id="218" name="Google Shape;218;p23"/>
          <p:cNvPicPr preferRelativeResize="0"/>
          <p:nvPr/>
        </p:nvPicPr>
        <p:blipFill rotWithShape="1">
          <a:blip r:embed="rId4">
            <a:alphaModFix/>
          </a:blip>
          <a:srcRect b="0" l="0" r="0" t="0"/>
          <a:stretch/>
        </p:blipFill>
        <p:spPr>
          <a:xfrm>
            <a:off x="4762500" y="1809750"/>
            <a:ext cx="3810000" cy="2857500"/>
          </a:xfrm>
          <a:prstGeom prst="roundRect">
            <a:avLst>
              <a:gd fmla="val 4000" name="adj"/>
            </a:avLst>
          </a:prstGeom>
          <a:noFill/>
          <a:ln>
            <a:noFill/>
          </a:ln>
        </p:spPr>
      </p:pic>
      <p:sp>
        <p:nvSpPr>
          <p:cNvPr id="219" name="Google Shape;219;p23"/>
          <p:cNvSpPr/>
          <p:nvPr/>
        </p:nvSpPr>
        <p:spPr>
          <a:xfrm>
            <a:off x="4762500" y="1809750"/>
            <a:ext cx="3810000" cy="2857500"/>
          </a:xfrm>
          <a:prstGeom prst="roundRect">
            <a:avLst>
              <a:gd fmla="val 4000" name="adj"/>
            </a:avLst>
          </a:prstGeom>
          <a:solidFill>
            <a:srgbClr val="000000">
              <a:alpha val="0"/>
            </a:srgbClr>
          </a:solidFill>
          <a:ln cap="flat" cmpd="sng" w="9525">
            <a:solidFill>
              <a:srgbClr val="22D3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p:nvPr/>
        </p:nvSpPr>
        <p:spPr>
          <a:xfrm>
            <a:off x="0" y="0"/>
            <a:ext cx="9144000" cy="5143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25" name="Google Shape;225;p2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26" name="Google Shape;226;p24"/>
          <p:cNvSpPr/>
          <p:nvPr/>
        </p:nvSpPr>
        <p:spPr>
          <a:xfrm>
            <a:off x="571500" y="571500"/>
            <a:ext cx="381000" cy="38100"/>
          </a:xfrm>
          <a:prstGeom prst="rect">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24"/>
          <p:cNvSpPr txBox="1"/>
          <p:nvPr/>
        </p:nvSpPr>
        <p:spPr>
          <a:xfrm>
            <a:off x="571500" y="71437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1200">
                <a:solidFill>
                  <a:srgbClr val="A5F3FC"/>
                </a:solidFill>
                <a:latin typeface="Inter Light"/>
                <a:ea typeface="Inter Light"/>
                <a:cs typeface="Inter Light"/>
                <a:sym typeface="Inter Light"/>
              </a:rPr>
              <a:t>Multi-Disciplinary Engineering Project | Çukurova University</a:t>
            </a:r>
            <a:endParaRPr b="0" sz="1200">
              <a:solidFill>
                <a:srgbClr val="A5F3FC"/>
              </a:solidFill>
              <a:latin typeface="Inter Light"/>
              <a:ea typeface="Inter Light"/>
              <a:cs typeface="Inter Light"/>
              <a:sym typeface="Inter Light"/>
            </a:endParaRPr>
          </a:p>
        </p:txBody>
      </p:sp>
      <p:sp>
        <p:nvSpPr>
          <p:cNvPr id="228" name="Google Shape;228;p24"/>
          <p:cNvSpPr txBox="1"/>
          <p:nvPr/>
        </p:nvSpPr>
        <p:spPr>
          <a:xfrm>
            <a:off x="571500" y="104775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2800">
                <a:solidFill>
                  <a:srgbClr val="FFFFFF"/>
                </a:solidFill>
                <a:latin typeface="Inter ExtraBold"/>
                <a:ea typeface="Inter ExtraBold"/>
                <a:cs typeface="Inter ExtraBold"/>
                <a:sym typeface="Inter ExtraBold"/>
              </a:rPr>
              <a:t>Working Product: Interactive Dashboard</a:t>
            </a:r>
            <a:endParaRPr b="0" sz="2800">
              <a:solidFill>
                <a:srgbClr val="FFFFFF"/>
              </a:solidFill>
              <a:latin typeface="Inter ExtraBold"/>
              <a:ea typeface="Inter ExtraBold"/>
              <a:cs typeface="Inter ExtraBold"/>
              <a:sym typeface="Inter ExtraBold"/>
            </a:endParaRPr>
          </a:p>
        </p:txBody>
      </p:sp>
      <p:sp>
        <p:nvSpPr>
          <p:cNvPr id="229" name="Google Shape;229;p24"/>
          <p:cNvSpPr/>
          <p:nvPr/>
        </p:nvSpPr>
        <p:spPr>
          <a:xfrm>
            <a:off x="571500" y="1905000"/>
            <a:ext cx="4000500" cy="2667000"/>
          </a:xfrm>
          <a:prstGeom prst="roundRect">
            <a:avLst>
              <a:gd fmla="val 4285"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24"/>
          <p:cNvSpPr txBox="1"/>
          <p:nvPr/>
        </p:nvSpPr>
        <p:spPr>
          <a:xfrm>
            <a:off x="809625" y="2143125"/>
            <a:ext cx="3524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925">
                <a:solidFill>
                  <a:srgbClr val="22D3EE"/>
                </a:solidFill>
                <a:latin typeface="Inter"/>
                <a:ea typeface="Inter"/>
                <a:cs typeface="Inter"/>
                <a:sym typeface="Inter"/>
              </a:rPr>
              <a:t>DASHBOARD CAPABILITIES</a:t>
            </a:r>
            <a:endParaRPr b="1" sz="925">
              <a:solidFill>
                <a:srgbClr val="22D3EE"/>
              </a:solidFill>
              <a:latin typeface="Inter"/>
              <a:ea typeface="Inter"/>
              <a:cs typeface="Inter"/>
              <a:sym typeface="Inter"/>
            </a:endParaRPr>
          </a:p>
          <a:p>
            <a:pPr indent="-301625" lvl="0" marL="457200" rtl="0" algn="l">
              <a:spcBef>
                <a:spcPts val="1125"/>
              </a:spcBef>
              <a:spcAft>
                <a:spcPts val="0"/>
              </a:spcAft>
              <a:buClr>
                <a:srgbClr val="E2E8F0"/>
              </a:buClr>
              <a:buSzPts val="1150"/>
              <a:buFont typeface="Inter"/>
              <a:buChar char="●"/>
            </a:pPr>
            <a:r>
              <a:rPr b="0" lang="tr" sz="1150">
                <a:solidFill>
                  <a:srgbClr val="E2E8F0"/>
                </a:solidFill>
                <a:latin typeface="Inter"/>
                <a:ea typeface="Inter"/>
                <a:cs typeface="Inter"/>
                <a:sym typeface="Inter"/>
              </a:rPr>
              <a:t>Developed a real-time web application using </a:t>
            </a:r>
            <a:r>
              <a:rPr b="1" lang="tr" sz="1150">
                <a:solidFill>
                  <a:srgbClr val="22D3EE"/>
                </a:solidFill>
                <a:latin typeface="Inter"/>
                <a:ea typeface="Inter"/>
                <a:cs typeface="Inter"/>
                <a:sym typeface="Inter"/>
              </a:rPr>
              <a:t>Streamlit</a:t>
            </a:r>
            <a:r>
              <a:rPr b="0" lang="tr" sz="1150">
                <a:solidFill>
                  <a:srgbClr val="E2E8F0"/>
                </a:solidFill>
                <a:latin typeface="Inter"/>
                <a:ea typeface="Inter"/>
                <a:cs typeface="Inter"/>
                <a:sym typeface="Inter"/>
              </a:rPr>
              <a:t> and </a:t>
            </a:r>
            <a:r>
              <a:rPr b="1" lang="tr" sz="1150">
                <a:solidFill>
                  <a:srgbClr val="22D3EE"/>
                </a:solidFill>
                <a:latin typeface="Inter"/>
                <a:ea typeface="Inter"/>
                <a:cs typeface="Inter"/>
                <a:sym typeface="Inter"/>
              </a:rPr>
              <a:t>Plotly</a:t>
            </a:r>
            <a:r>
              <a:rPr b="0" lang="tr" sz="1150">
                <a:solidFill>
                  <a:srgbClr val="E2E8F0"/>
                </a:solidFill>
                <a:latin typeface="Inter"/>
                <a:ea typeface="Inter"/>
                <a:cs typeface="Inter"/>
                <a:sym typeface="Inter"/>
              </a:rPr>
              <a:t>.</a:t>
            </a:r>
            <a:endParaRPr b="0" sz="1150">
              <a:solidFill>
                <a:srgbClr val="E2E8F0"/>
              </a:solidFill>
              <a:latin typeface="Inter"/>
              <a:ea typeface="Inter"/>
              <a:cs typeface="Inter"/>
              <a:sym typeface="Inter"/>
            </a:endParaRPr>
          </a:p>
          <a:p>
            <a:pPr indent="-301625" lvl="0" marL="457200" rtl="0" algn="l">
              <a:spcBef>
                <a:spcPts val="900"/>
              </a:spcBef>
              <a:spcAft>
                <a:spcPts val="0"/>
              </a:spcAft>
              <a:buClr>
                <a:srgbClr val="E2E8F0"/>
              </a:buClr>
              <a:buSzPts val="1150"/>
              <a:buFont typeface="Inter"/>
              <a:buChar char="●"/>
            </a:pPr>
            <a:r>
              <a:rPr b="0" lang="tr" sz="1150">
                <a:solidFill>
                  <a:srgbClr val="E2E8F0"/>
                </a:solidFill>
                <a:latin typeface="Inter"/>
                <a:ea typeface="Inter"/>
                <a:cs typeface="Inter"/>
                <a:sym typeface="Inter"/>
              </a:rPr>
              <a:t>Grid operators can </a:t>
            </a:r>
            <a:r>
              <a:rPr b="1" lang="tr" sz="1150">
                <a:solidFill>
                  <a:srgbClr val="22D3EE"/>
                </a:solidFill>
                <a:latin typeface="Inter"/>
                <a:ea typeface="Inter"/>
                <a:cs typeface="Inter"/>
                <a:sym typeface="Inter"/>
              </a:rPr>
              <a:t>dynamically filter</a:t>
            </a:r>
            <a:r>
              <a:rPr b="0" lang="tr" sz="1150">
                <a:solidFill>
                  <a:srgbClr val="E2E8F0"/>
                </a:solidFill>
                <a:latin typeface="Inter"/>
                <a:ea typeface="Inter"/>
                <a:cs typeface="Inter"/>
                <a:sym typeface="Inter"/>
              </a:rPr>
              <a:t> out top 2% outliers.</a:t>
            </a:r>
            <a:endParaRPr b="0" sz="1150">
              <a:solidFill>
                <a:srgbClr val="E2E8F0"/>
              </a:solidFill>
              <a:latin typeface="Inter"/>
              <a:ea typeface="Inter"/>
              <a:cs typeface="Inter"/>
              <a:sym typeface="Inter"/>
            </a:endParaRPr>
          </a:p>
          <a:p>
            <a:pPr indent="-301625" lvl="0" marL="457200" rtl="0" algn="l">
              <a:spcBef>
                <a:spcPts val="900"/>
              </a:spcBef>
              <a:spcAft>
                <a:spcPts val="900"/>
              </a:spcAft>
              <a:buClr>
                <a:srgbClr val="E2E8F0"/>
              </a:buClr>
              <a:buSzPts val="1150"/>
              <a:buFont typeface="Inter"/>
              <a:buChar char="●"/>
            </a:pPr>
            <a:r>
              <a:rPr b="0" lang="tr" sz="1150">
                <a:solidFill>
                  <a:srgbClr val="E2E8F0"/>
                </a:solidFill>
                <a:latin typeface="Inter"/>
                <a:ea typeface="Inter"/>
                <a:cs typeface="Inter"/>
                <a:sym typeface="Inter"/>
              </a:rPr>
              <a:t>Visualizes </a:t>
            </a:r>
            <a:r>
              <a:rPr b="1" lang="tr" sz="1150">
                <a:solidFill>
                  <a:srgbClr val="22D3EE"/>
                </a:solidFill>
                <a:latin typeface="Inter"/>
                <a:ea typeface="Inter"/>
                <a:cs typeface="Inter"/>
                <a:sym typeface="Inter"/>
              </a:rPr>
              <a:t>load distributions</a:t>
            </a:r>
            <a:r>
              <a:rPr b="0" lang="tr" sz="1150">
                <a:solidFill>
                  <a:srgbClr val="E2E8F0"/>
                </a:solidFill>
                <a:latin typeface="Inter"/>
                <a:ea typeface="Inter"/>
                <a:cs typeface="Inter"/>
                <a:sym typeface="Inter"/>
              </a:rPr>
              <a:t>, time hierarchies, and hourly fluctuations interactively.</a:t>
            </a:r>
            <a:endParaRPr b="0" sz="1150">
              <a:solidFill>
                <a:srgbClr val="E2E8F0"/>
              </a:solidFill>
              <a:latin typeface="Inter"/>
              <a:ea typeface="Inter"/>
              <a:cs typeface="Inter"/>
              <a:sym typeface="Inter"/>
            </a:endParaRPr>
          </a:p>
        </p:txBody>
      </p:sp>
      <p:pic>
        <p:nvPicPr>
          <p:cNvPr descr="A cinematic, high-tech interface of a professional web dashboard. It features dark blue themes, glowing cyan and white data charts (line graphs, heatmaps), and interactive sliders. The aesthetic is clean, futuristic, and focused on energy grid monitoring." id="231" name="Google Shape;231;p24"/>
          <p:cNvPicPr preferRelativeResize="0"/>
          <p:nvPr/>
        </p:nvPicPr>
        <p:blipFill rotWithShape="1">
          <a:blip r:embed="rId4">
            <a:alphaModFix/>
          </a:blip>
          <a:srcRect b="0" l="0" r="0" t="0"/>
          <a:stretch/>
        </p:blipFill>
        <p:spPr>
          <a:xfrm>
            <a:off x="4762500" y="1809750"/>
            <a:ext cx="3810000" cy="2857500"/>
          </a:xfrm>
          <a:prstGeom prst="roundRect">
            <a:avLst>
              <a:gd fmla="val 4000" name="adj"/>
            </a:avLst>
          </a:prstGeom>
          <a:noFill/>
          <a:ln>
            <a:noFill/>
          </a:ln>
        </p:spPr>
      </p:pic>
      <p:sp>
        <p:nvSpPr>
          <p:cNvPr id="232" name="Google Shape;232;p24"/>
          <p:cNvSpPr/>
          <p:nvPr/>
        </p:nvSpPr>
        <p:spPr>
          <a:xfrm>
            <a:off x="4762500" y="1809750"/>
            <a:ext cx="3810000" cy="2857500"/>
          </a:xfrm>
          <a:prstGeom prst="roundRect">
            <a:avLst>
              <a:gd fmla="val 4000" name="adj"/>
            </a:avLst>
          </a:prstGeom>
          <a:solidFill>
            <a:srgbClr val="000000">
              <a:alpha val="0"/>
            </a:srgbClr>
          </a:solidFill>
          <a:ln cap="flat" cmpd="sng" w="9525">
            <a:solidFill>
              <a:srgbClr val="22D3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5"/>
          <p:cNvSpPr/>
          <p:nvPr/>
        </p:nvSpPr>
        <p:spPr>
          <a:xfrm>
            <a:off x="0" y="0"/>
            <a:ext cx="9144000" cy="5143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38" name="Google Shape;238;p2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39" name="Google Shape;239;p25"/>
          <p:cNvSpPr/>
          <p:nvPr/>
        </p:nvSpPr>
        <p:spPr>
          <a:xfrm>
            <a:off x="571500" y="571500"/>
            <a:ext cx="381000" cy="38100"/>
          </a:xfrm>
          <a:prstGeom prst="rect">
            <a:avLst/>
          </a:prstGeom>
          <a:solidFill>
            <a:srgbClr val="22D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25"/>
          <p:cNvSpPr txBox="1"/>
          <p:nvPr/>
        </p:nvSpPr>
        <p:spPr>
          <a:xfrm>
            <a:off x="571500" y="71437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1200">
                <a:solidFill>
                  <a:srgbClr val="A5F3FC"/>
                </a:solidFill>
                <a:latin typeface="Inter Light"/>
                <a:ea typeface="Inter Light"/>
                <a:cs typeface="Inter Light"/>
                <a:sym typeface="Inter Light"/>
              </a:rPr>
              <a:t>Multi-Disciplinary Engineering Project | Çukurova University</a:t>
            </a:r>
            <a:endParaRPr b="0" sz="1200">
              <a:solidFill>
                <a:srgbClr val="A5F3FC"/>
              </a:solidFill>
              <a:latin typeface="Inter Light"/>
              <a:ea typeface="Inter Light"/>
              <a:cs typeface="Inter Light"/>
              <a:sym typeface="Inter Light"/>
            </a:endParaRPr>
          </a:p>
        </p:txBody>
      </p:sp>
      <p:sp>
        <p:nvSpPr>
          <p:cNvPr id="241" name="Google Shape;241;p25"/>
          <p:cNvSpPr txBox="1"/>
          <p:nvPr/>
        </p:nvSpPr>
        <p:spPr>
          <a:xfrm>
            <a:off x="571500" y="104775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tr" sz="2800">
                <a:solidFill>
                  <a:srgbClr val="FFFFFF"/>
                </a:solidFill>
                <a:latin typeface="Inter ExtraBold"/>
                <a:ea typeface="Inter ExtraBold"/>
                <a:cs typeface="Inter ExtraBold"/>
                <a:sym typeface="Inter ExtraBold"/>
              </a:rPr>
              <a:t>Conclusion &amp; Academic Standards</a:t>
            </a:r>
            <a:endParaRPr b="0" sz="2800">
              <a:solidFill>
                <a:srgbClr val="FFFFFF"/>
              </a:solidFill>
              <a:latin typeface="Inter ExtraBold"/>
              <a:ea typeface="Inter ExtraBold"/>
              <a:cs typeface="Inter ExtraBold"/>
              <a:sym typeface="Inter ExtraBold"/>
            </a:endParaRPr>
          </a:p>
        </p:txBody>
      </p:sp>
      <p:sp>
        <p:nvSpPr>
          <p:cNvPr id="242" name="Google Shape;242;p25"/>
          <p:cNvSpPr/>
          <p:nvPr/>
        </p:nvSpPr>
        <p:spPr>
          <a:xfrm>
            <a:off x="571500" y="1905000"/>
            <a:ext cx="4000500" cy="2667000"/>
          </a:xfrm>
          <a:prstGeom prst="roundRect">
            <a:avLst>
              <a:gd fmla="val 4285"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5"/>
          <p:cNvSpPr txBox="1"/>
          <p:nvPr/>
        </p:nvSpPr>
        <p:spPr>
          <a:xfrm>
            <a:off x="809625" y="2143125"/>
            <a:ext cx="3524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tr" sz="925">
                <a:solidFill>
                  <a:srgbClr val="22D3EE"/>
                </a:solidFill>
                <a:latin typeface="Inter"/>
                <a:ea typeface="Inter"/>
                <a:cs typeface="Inter"/>
                <a:sym typeface="Inter"/>
              </a:rPr>
              <a:t>FINAL SUMMARY &amp; SUBMISSION</a:t>
            </a:r>
            <a:endParaRPr b="1" sz="925">
              <a:solidFill>
                <a:srgbClr val="22D3EE"/>
              </a:solidFill>
              <a:latin typeface="Inter"/>
              <a:ea typeface="Inter"/>
              <a:cs typeface="Inter"/>
              <a:sym typeface="Inter"/>
            </a:endParaRPr>
          </a:p>
          <a:p>
            <a:pPr indent="-301625" lvl="0" marL="457200" rtl="0" algn="l">
              <a:spcBef>
                <a:spcPts val="900"/>
              </a:spcBef>
              <a:spcAft>
                <a:spcPts val="0"/>
              </a:spcAft>
              <a:buClr>
                <a:srgbClr val="E2E8F0"/>
              </a:buClr>
              <a:buSzPts val="1150"/>
              <a:buFont typeface="Inter"/>
              <a:buChar char="●"/>
            </a:pPr>
            <a:r>
              <a:rPr b="0" lang="tr" sz="1150">
                <a:solidFill>
                  <a:srgbClr val="E2E8F0"/>
                </a:solidFill>
                <a:latin typeface="Inter"/>
                <a:ea typeface="Inter"/>
                <a:cs typeface="Inter"/>
                <a:sym typeface="Inter"/>
              </a:rPr>
              <a:t>The </a:t>
            </a:r>
            <a:r>
              <a:rPr b="1" lang="tr" sz="1150">
                <a:solidFill>
                  <a:srgbClr val="22D3EE"/>
                </a:solidFill>
                <a:latin typeface="Inter"/>
                <a:ea typeface="Inter"/>
                <a:cs typeface="Inter"/>
                <a:sym typeface="Inter"/>
              </a:rPr>
              <a:t>37-model LightGBM architecture</a:t>
            </a:r>
            <a:r>
              <a:rPr b="0" lang="tr" sz="1150">
                <a:solidFill>
                  <a:srgbClr val="E2E8F0"/>
                </a:solidFill>
                <a:latin typeface="Inter"/>
                <a:ea typeface="Inter"/>
                <a:cs typeface="Inter"/>
                <a:sym typeface="Inter"/>
              </a:rPr>
              <a:t> provides robust smart grid stability across diverse European scales.</a:t>
            </a:r>
            <a:endParaRPr b="0" sz="1150">
              <a:solidFill>
                <a:srgbClr val="E2E8F0"/>
              </a:solidFill>
              <a:latin typeface="Inter"/>
              <a:ea typeface="Inter"/>
              <a:cs typeface="Inter"/>
              <a:sym typeface="Inter"/>
            </a:endParaRPr>
          </a:p>
          <a:p>
            <a:pPr indent="-301625" lvl="0" marL="457200" rtl="0" algn="l">
              <a:spcBef>
                <a:spcPts val="900"/>
              </a:spcBef>
              <a:spcAft>
                <a:spcPts val="900"/>
              </a:spcAft>
              <a:buClr>
                <a:srgbClr val="E2E8F0"/>
              </a:buClr>
              <a:buSzPts val="1150"/>
              <a:buFont typeface="Inter"/>
              <a:buChar char="●"/>
            </a:pPr>
            <a:r>
              <a:rPr b="0" lang="tr" sz="1150">
                <a:solidFill>
                  <a:srgbClr val="E2E8F0"/>
                </a:solidFill>
                <a:latin typeface="Inter"/>
                <a:ea typeface="Inter"/>
                <a:cs typeface="Inter"/>
                <a:sym typeface="Inter"/>
              </a:rPr>
              <a:t>Special thanks to advisors </a:t>
            </a:r>
            <a:r>
              <a:rPr b="1" lang="tr" sz="1150">
                <a:solidFill>
                  <a:srgbClr val="22D3EE"/>
                </a:solidFill>
                <a:latin typeface="Inter"/>
                <a:ea typeface="Inter"/>
                <a:cs typeface="Inter"/>
                <a:sym typeface="Inter"/>
              </a:rPr>
              <a:t>Asst. Prof. O. Timur</a:t>
            </a:r>
            <a:r>
              <a:rPr b="0" lang="tr" sz="1150">
                <a:solidFill>
                  <a:srgbClr val="E2E8F0"/>
                </a:solidFill>
                <a:latin typeface="Inter"/>
                <a:ea typeface="Inter"/>
                <a:cs typeface="Inter"/>
                <a:sym typeface="Inter"/>
              </a:rPr>
              <a:t> &amp; </a:t>
            </a:r>
            <a:r>
              <a:rPr b="1" lang="tr" sz="1150">
                <a:solidFill>
                  <a:srgbClr val="22D3EE"/>
                </a:solidFill>
                <a:latin typeface="Inter"/>
                <a:ea typeface="Inter"/>
                <a:cs typeface="Inter"/>
                <a:sym typeface="Inter"/>
              </a:rPr>
              <a:t>Lect. PhD Y. E. Çoğurcu</a:t>
            </a:r>
            <a:r>
              <a:rPr b="0" lang="tr" sz="1150">
                <a:solidFill>
                  <a:srgbClr val="E2E8F0"/>
                </a:solidFill>
                <a:latin typeface="Inter"/>
                <a:ea typeface="Inter"/>
                <a:cs typeface="Inter"/>
                <a:sym typeface="Inter"/>
              </a:rPr>
              <a:t> for technical guidance.</a:t>
            </a:r>
            <a:endParaRPr b="0" sz="1150">
              <a:solidFill>
                <a:srgbClr val="E2E8F0"/>
              </a:solidFill>
              <a:latin typeface="Inter"/>
              <a:ea typeface="Inter"/>
              <a:cs typeface="Inter"/>
              <a:sym typeface="Inter"/>
            </a:endParaRPr>
          </a:p>
        </p:txBody>
      </p:sp>
      <p:pic>
        <p:nvPicPr>
          <p:cNvPr descr="A cinematic, high-quality visualization of a professional academic report with an IEEE logo watermark on the cover, lying on a high-tech desk with glowing digital blueprint circuits. The lighting is cyan and deep blue, matching a futuristic engineering lab aesthetic." id="244" name="Google Shape;244;p25"/>
          <p:cNvPicPr preferRelativeResize="0"/>
          <p:nvPr/>
        </p:nvPicPr>
        <p:blipFill rotWithShape="1">
          <a:blip r:embed="rId4">
            <a:alphaModFix/>
          </a:blip>
          <a:srcRect b="0" l="0" r="0" t="0"/>
          <a:stretch/>
        </p:blipFill>
        <p:spPr>
          <a:xfrm>
            <a:off x="4762500" y="1809750"/>
            <a:ext cx="3810000" cy="2857500"/>
          </a:xfrm>
          <a:prstGeom prst="roundRect">
            <a:avLst>
              <a:gd fmla="val 4000" name="adj"/>
            </a:avLst>
          </a:prstGeom>
          <a:noFill/>
          <a:ln>
            <a:noFill/>
          </a:ln>
        </p:spPr>
      </p:pic>
      <p:sp>
        <p:nvSpPr>
          <p:cNvPr id="245" name="Google Shape;245;p25"/>
          <p:cNvSpPr/>
          <p:nvPr/>
        </p:nvSpPr>
        <p:spPr>
          <a:xfrm>
            <a:off x="4762500" y="1809750"/>
            <a:ext cx="3810000" cy="2857500"/>
          </a:xfrm>
          <a:prstGeom prst="roundRect">
            <a:avLst>
              <a:gd fmla="val 4000" name="adj"/>
            </a:avLst>
          </a:prstGeom>
          <a:solidFill>
            <a:srgbClr val="000000">
              <a:alpha val="0"/>
            </a:srgbClr>
          </a:solidFill>
          <a:ln cap="flat" cmpd="sng" w="9525">
            <a:solidFill>
              <a:srgbClr val="22D3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